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12"/>
  </p:notesMasterIdLst>
  <p:sldIdLst>
    <p:sldId id="256" r:id="rId2"/>
    <p:sldId id="258" r:id="rId3"/>
    <p:sldId id="260" r:id="rId4"/>
    <p:sldId id="272" r:id="rId5"/>
    <p:sldId id="261" r:id="rId6"/>
    <p:sldId id="263" r:id="rId7"/>
    <p:sldId id="267" r:id="rId8"/>
    <p:sldId id="257" r:id="rId9"/>
    <p:sldId id="268" r:id="rId10"/>
    <p:sldId id="271" r:id="rId11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</p:embeddedFon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Rajdhani" panose="020B0604020202020204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A4"/>
    <a:srgbClr val="08524D"/>
    <a:srgbClr val="EE561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26DE01-F523-4318-A409-E3855CED85CC}">
  <a:tblStyle styleId="{1C26DE01-F523-4318-A409-E3855CED85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43" y="8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3205118827755896E-2"/>
          <c:y val="1.9088425868929879E-2"/>
          <c:w val="0.90436168641802606"/>
          <c:h val="0.7874992262833824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Parallel Processing</c:v>
                </c:pt>
              </c:strCache>
            </c:strRef>
          </c:tx>
          <c:spPr>
            <a:solidFill>
              <a:srgbClr val="CCFFA4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Processing Time (ms)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B1-4E06-8DE4-2D8317896D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Sequential Processing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8524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1B1-4E06-8DE4-2D8317896D9B}"/>
              </c:ext>
            </c:extLst>
          </c:dPt>
          <c:cat>
            <c:strRef>
              <c:f>Sheet1!$A$2</c:f>
              <c:strCache>
                <c:ptCount val="1"/>
                <c:pt idx="0">
                  <c:v>Processing Time (ms)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1B1-4E06-8DE4-2D8317896D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36139295"/>
        <c:axId val="1736141375"/>
      </c:barChart>
      <c:catAx>
        <c:axId val="17361392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2400" b="0" i="0" u="none" strike="noStrike" kern="1200" baseline="0">
                <a:solidFill>
                  <a:srgbClr val="0852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736141375"/>
        <c:crosses val="autoZero"/>
        <c:auto val="1"/>
        <c:lblAlgn val="ctr"/>
        <c:lblOffset val="100"/>
        <c:noMultiLvlLbl val="0"/>
      </c:catAx>
      <c:valAx>
        <c:axId val="17361413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rgbClr val="08524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61392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9247994387596559"/>
          <c:y val="0.89147034304921002"/>
          <c:w val="0.61756567824867381"/>
          <c:h val="5.988901385256766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rgbClr val="08524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08524D"/>
                </a:solidFill>
                <a:latin typeface="+mn-lt"/>
                <a:ea typeface="+mn-ea"/>
                <a:cs typeface="+mn-cs"/>
              </a:defRPr>
            </a:pPr>
            <a:r>
              <a:rPr lang="en-US" sz="3600" b="1" dirty="0">
                <a:solidFill>
                  <a:srgbClr val="0852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Additive</a:t>
            </a:r>
            <a:r>
              <a:rPr lang="en-US" sz="3600" b="1" baseline="0" dirty="0">
                <a:solidFill>
                  <a:srgbClr val="0852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Increase Multiplicative Decrease Congestion Control</a:t>
            </a:r>
            <a:endParaRPr lang="en-US" sz="3600" b="1" dirty="0">
              <a:solidFill>
                <a:srgbClr val="08524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08524D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Pool Size</c:v>
                </c:pt>
              </c:strCache>
            </c:strRef>
          </c:tx>
          <c:spPr>
            <a:ln w="63500" cap="rnd">
              <a:solidFill>
                <a:srgbClr val="08524D"/>
              </a:solidFill>
              <a:round/>
            </a:ln>
            <a:effectLst/>
          </c:spPr>
          <c:marker>
            <c:symbol val="none"/>
          </c:marker>
          <c:cat>
            <c:numRef>
              <c:f>Sheet1!$A$2:$A$33</c:f>
              <c:numCache>
                <c:formatCode>General</c:formatCode>
                <c:ptCount val="3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</c:numCache>
            </c:num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5</c:v>
                </c:pt>
                <c:pt idx="8">
                  <c:v>6</c:v>
                </c:pt>
                <c:pt idx="9">
                  <c:v>7</c:v>
                </c:pt>
                <c:pt idx="10">
                  <c:v>8</c:v>
                </c:pt>
                <c:pt idx="11">
                  <c:v>9</c:v>
                </c:pt>
                <c:pt idx="12">
                  <c:v>10</c:v>
                </c:pt>
                <c:pt idx="13">
                  <c:v>11</c:v>
                </c:pt>
                <c:pt idx="14">
                  <c:v>12</c:v>
                </c:pt>
                <c:pt idx="15">
                  <c:v>6</c:v>
                </c:pt>
                <c:pt idx="16">
                  <c:v>7</c:v>
                </c:pt>
                <c:pt idx="17">
                  <c:v>8</c:v>
                </c:pt>
                <c:pt idx="18">
                  <c:v>9</c:v>
                </c:pt>
                <c:pt idx="19">
                  <c:v>10</c:v>
                </c:pt>
                <c:pt idx="20">
                  <c:v>11</c:v>
                </c:pt>
                <c:pt idx="21">
                  <c:v>5</c:v>
                </c:pt>
                <c:pt idx="22">
                  <c:v>6</c:v>
                </c:pt>
                <c:pt idx="23">
                  <c:v>7</c:v>
                </c:pt>
                <c:pt idx="24">
                  <c:v>8</c:v>
                </c:pt>
                <c:pt idx="25">
                  <c:v>9</c:v>
                </c:pt>
                <c:pt idx="26">
                  <c:v>10</c:v>
                </c:pt>
                <c:pt idx="27">
                  <c:v>11</c:v>
                </c:pt>
                <c:pt idx="28">
                  <c:v>12</c:v>
                </c:pt>
                <c:pt idx="29">
                  <c:v>13</c:v>
                </c:pt>
                <c:pt idx="30">
                  <c:v>6</c:v>
                </c:pt>
                <c:pt idx="31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C2-4237-82F7-32030B976E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05151151"/>
        <c:axId val="1705152399"/>
      </c:lineChart>
      <c:catAx>
        <c:axId val="170515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rgbClr val="08524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152399"/>
        <c:crosses val="autoZero"/>
        <c:auto val="1"/>
        <c:lblAlgn val="ctr"/>
        <c:lblOffset val="100"/>
        <c:noMultiLvlLbl val="0"/>
      </c:catAx>
      <c:valAx>
        <c:axId val="17051523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800" b="0" i="0" u="none" strike="noStrike" kern="1200" baseline="0">
                <a:solidFill>
                  <a:srgbClr val="08524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0515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rgbClr val="08524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spc="0" baseline="0">
              <a:solidFill>
                <a:srgbClr val="CCFFA4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CFFA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077-4042-8183-C0C6F5DB7FF0}"/>
              </c:ext>
            </c:extLst>
          </c:dPt>
          <c:dPt>
            <c:idx val="1"/>
            <c:invertIfNegative val="0"/>
            <c:bubble3D val="0"/>
            <c:spPr>
              <a:solidFill>
                <a:srgbClr val="CCFFA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077-4042-8183-C0C6F5DB7FF0}"/>
              </c:ext>
            </c:extLst>
          </c:dPt>
          <c:dPt>
            <c:idx val="2"/>
            <c:invertIfNegative val="0"/>
            <c:bubble3D val="0"/>
            <c:spPr>
              <a:solidFill>
                <a:srgbClr val="EE561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077-4042-8183-C0C6F5DB7FF0}"/>
              </c:ext>
            </c:extLst>
          </c:dPt>
          <c:dPt>
            <c:idx val="3"/>
            <c:invertIfNegative val="0"/>
            <c:bubble3D val="0"/>
            <c:spPr>
              <a:solidFill>
                <a:srgbClr val="EE561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077-4042-8183-C0C6F5DB7FF0}"/>
              </c:ext>
            </c:extLst>
          </c:dPt>
          <c:cat>
            <c:strRef>
              <c:f>Sheet1!$A$2:$A$5</c:f>
              <c:strCache>
                <c:ptCount val="4"/>
                <c:pt idx="0">
                  <c:v>p50 (Median)</c:v>
                </c:pt>
                <c:pt idx="1">
                  <c:v>p95</c:v>
                </c:pt>
                <c:pt idx="2">
                  <c:v>p99</c:v>
                </c:pt>
                <c:pt idx="3">
                  <c:v>Max Latency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669</c:v>
                </c:pt>
                <c:pt idx="1">
                  <c:v>968</c:v>
                </c:pt>
                <c:pt idx="2">
                  <c:v>1010</c:v>
                </c:pt>
                <c:pt idx="3">
                  <c:v>1017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77-4042-8183-C0C6F5DB7F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37929439"/>
        <c:axId val="1837932351"/>
      </c:barChart>
      <c:catAx>
        <c:axId val="1837929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rgbClr val="CCFF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837932351"/>
        <c:crosses val="autoZero"/>
        <c:auto val="1"/>
        <c:lblAlgn val="ctr"/>
        <c:lblOffset val="100"/>
        <c:noMultiLvlLbl val="0"/>
      </c:catAx>
      <c:valAx>
        <c:axId val="1837932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rgbClr val="CCFF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pPr>
            <a:endParaRPr lang="en-US"/>
          </a:p>
        </c:txPr>
        <c:crossAx val="18379294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3329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257100" y="413500"/>
            <a:ext cx="8615100" cy="3198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850"/>
              <a:buNone/>
              <a:defRPr sz="108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 r="9107"/>
          <a:stretch/>
        </p:blipFill>
        <p:spPr>
          <a:xfrm>
            <a:off x="9872225" y="3373928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r="9107"/>
          <a:stretch/>
        </p:blipFill>
        <p:spPr>
          <a:xfrm>
            <a:off x="9872225" y="6262384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r="9107"/>
          <a:stretch/>
        </p:blipFill>
        <p:spPr>
          <a:xfrm>
            <a:off x="9872225" y="629450"/>
            <a:ext cx="8428748" cy="255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61" y="4162663"/>
            <a:ext cx="8428751" cy="590262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/>
          <p:nvPr/>
        </p:nvSpPr>
        <p:spPr>
          <a:xfrm>
            <a:off x="10761342" y="126361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24" name="Google Shape;24;p4"/>
          <p:cNvSpPr txBox="1"/>
          <p:nvPr/>
        </p:nvSpPr>
        <p:spPr>
          <a:xfrm>
            <a:off x="10761342" y="3947132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10761342" y="6836829"/>
            <a:ext cx="17010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86" b="0" i="0" u="none" strike="noStrike" cap="none">
                <a:solidFill>
                  <a:srgbClr val="08524D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1"/>
          </p:nvPr>
        </p:nvSpPr>
        <p:spPr>
          <a:xfrm>
            <a:off x="12678650" y="4394725"/>
            <a:ext cx="4385100" cy="71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2"/>
          </p:nvPr>
        </p:nvSpPr>
        <p:spPr>
          <a:xfrm>
            <a:off x="12678650" y="1653550"/>
            <a:ext cx="4385100" cy="71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3"/>
          </p:nvPr>
        </p:nvSpPr>
        <p:spPr>
          <a:xfrm>
            <a:off x="12678650" y="7342653"/>
            <a:ext cx="4385100" cy="71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650"/>
              <a:buNone/>
              <a:defRPr sz="3650">
                <a:solidFill>
                  <a:schemeClr val="dk1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2">
    <p:bg>
      <p:bgPr>
        <a:solidFill>
          <a:srgbClr val="43D29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5"/>
          <p:cNvGrpSpPr/>
          <p:nvPr/>
        </p:nvGrpSpPr>
        <p:grpSpPr>
          <a:xfrm>
            <a:off x="0" y="1238812"/>
            <a:ext cx="18288000" cy="4879047"/>
            <a:chOff x="0" y="25400"/>
            <a:chExt cx="24384000" cy="6505396"/>
          </a:xfrm>
        </p:grpSpPr>
        <p:cxnSp>
          <p:nvCxnSpPr>
            <p:cNvPr id="31" name="Google Shape;31;p5"/>
            <p:cNvCxnSpPr/>
            <p:nvPr/>
          </p:nvCxnSpPr>
          <p:spPr>
            <a:xfrm>
              <a:off x="0" y="25400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5"/>
            <p:cNvCxnSpPr/>
            <p:nvPr/>
          </p:nvCxnSpPr>
          <p:spPr>
            <a:xfrm>
              <a:off x="0" y="1651749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5"/>
            <p:cNvCxnSpPr/>
            <p:nvPr/>
          </p:nvCxnSpPr>
          <p:spPr>
            <a:xfrm>
              <a:off x="0" y="3278098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5"/>
            <p:cNvCxnSpPr/>
            <p:nvPr/>
          </p:nvCxnSpPr>
          <p:spPr>
            <a:xfrm>
              <a:off x="0" y="4904447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5"/>
            <p:cNvCxnSpPr/>
            <p:nvPr/>
          </p:nvCxnSpPr>
          <p:spPr>
            <a:xfrm>
              <a:off x="0" y="6530796"/>
              <a:ext cx="24384000" cy="0"/>
            </a:xfrm>
            <a:prstGeom prst="straightConnector1">
              <a:avLst/>
            </a:prstGeom>
            <a:noFill/>
            <a:ln w="50800" cap="flat" cmpd="sng">
              <a:solidFill>
                <a:srgbClr val="F5F6F7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36" name="Google Shape;3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45451" y="330970"/>
            <a:ext cx="12011669" cy="8367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5"/>
          <p:cNvGrpSpPr/>
          <p:nvPr/>
        </p:nvGrpSpPr>
        <p:grpSpPr>
          <a:xfrm>
            <a:off x="0" y="6993082"/>
            <a:ext cx="18288118" cy="3294190"/>
            <a:chOff x="0" y="-85725"/>
            <a:chExt cx="4816592" cy="867600"/>
          </a:xfrm>
        </p:grpSpPr>
        <p:sp>
          <p:nvSpPr>
            <p:cNvPr id="38" name="Google Shape;38;p5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9" name="Google Shape;39;p5"/>
            <p:cNvSpPr txBox="1"/>
            <p:nvPr/>
          </p:nvSpPr>
          <p:spPr>
            <a:xfrm>
              <a:off x="0" y="-85725"/>
              <a:ext cx="4816500" cy="86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" name="Google Shape;40;p5"/>
          <p:cNvSpPr txBox="1"/>
          <p:nvPr/>
        </p:nvSpPr>
        <p:spPr>
          <a:xfrm>
            <a:off x="331466" y="7376960"/>
            <a:ext cx="3231000" cy="27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3652333" y="7332355"/>
            <a:ext cx="140499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7950"/>
              <a:buNone/>
              <a:defRPr sz="17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3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1028700" y="605150"/>
            <a:ext cx="168171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4" name="Google Shape;44;p6"/>
          <p:cNvGrpSpPr/>
          <p:nvPr/>
        </p:nvGrpSpPr>
        <p:grpSpPr>
          <a:xfrm>
            <a:off x="652192" y="3059276"/>
            <a:ext cx="5588163" cy="5653649"/>
            <a:chOff x="0" y="-9525"/>
            <a:chExt cx="812800" cy="822325"/>
          </a:xfrm>
        </p:grpSpPr>
        <p:sp>
          <p:nvSpPr>
            <p:cNvPr id="45" name="Google Shape;45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6"/>
          <p:cNvGrpSpPr/>
          <p:nvPr/>
        </p:nvGrpSpPr>
        <p:grpSpPr>
          <a:xfrm>
            <a:off x="745653" y="2857348"/>
            <a:ext cx="5588163" cy="5653649"/>
            <a:chOff x="0" y="-9525"/>
            <a:chExt cx="812800" cy="822325"/>
          </a:xfrm>
        </p:grpSpPr>
        <p:sp>
          <p:nvSpPr>
            <p:cNvPr id="48" name="Google Shape;48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50;p6"/>
          <p:cNvGrpSpPr/>
          <p:nvPr/>
        </p:nvGrpSpPr>
        <p:grpSpPr>
          <a:xfrm>
            <a:off x="11943240" y="3059276"/>
            <a:ext cx="5588163" cy="5653649"/>
            <a:chOff x="0" y="-9525"/>
            <a:chExt cx="812800" cy="822325"/>
          </a:xfrm>
        </p:grpSpPr>
        <p:sp>
          <p:nvSpPr>
            <p:cNvPr id="51" name="Google Shape;51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6"/>
          <p:cNvGrpSpPr/>
          <p:nvPr/>
        </p:nvGrpSpPr>
        <p:grpSpPr>
          <a:xfrm>
            <a:off x="12047642" y="2857348"/>
            <a:ext cx="5588163" cy="5653649"/>
            <a:chOff x="0" y="-9525"/>
            <a:chExt cx="812800" cy="822325"/>
          </a:xfrm>
        </p:grpSpPr>
        <p:sp>
          <p:nvSpPr>
            <p:cNvPr id="54" name="Google Shape;54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6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6" name="Google Shape;5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866434" y="3770996"/>
            <a:ext cx="1253275" cy="117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19188" y="3429000"/>
            <a:ext cx="1140575" cy="137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3506" y="2857354"/>
            <a:ext cx="7911506" cy="640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subTitle" idx="1"/>
          </p:nvPr>
        </p:nvSpPr>
        <p:spPr>
          <a:xfrm>
            <a:off x="1981525" y="519382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sz="2550" b="1">
                <a:solidFill>
                  <a:schemeClr val="dk1"/>
                </a:solidFill>
              </a:defRPr>
            </a:lvl1pPr>
            <a:lvl2pPr lvl="1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2"/>
          </p:nvPr>
        </p:nvSpPr>
        <p:spPr>
          <a:xfrm>
            <a:off x="1873825" y="614630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5560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6pPr>
            <a:lvl7pPr marL="3200400" lvl="6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7pPr>
            <a:lvl8pPr marL="3657600" lvl="7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8pPr>
            <a:lvl9pPr marL="4114800" lvl="8" indent="-35560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ubTitle" idx="3"/>
          </p:nvPr>
        </p:nvSpPr>
        <p:spPr>
          <a:xfrm>
            <a:off x="13376975" y="519382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50"/>
              <a:buNone/>
              <a:defRPr sz="2550" b="1">
                <a:solidFill>
                  <a:schemeClr val="dk1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4"/>
          </p:nvPr>
        </p:nvSpPr>
        <p:spPr>
          <a:xfrm>
            <a:off x="13269275" y="614630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>
                <a:solidFill>
                  <a:schemeClr val="dk1"/>
                </a:solidFill>
              </a:defRPr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4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1028700" y="605150"/>
            <a:ext cx="168171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0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5" name="Google Shape;65;p7"/>
          <p:cNvGrpSpPr/>
          <p:nvPr/>
        </p:nvGrpSpPr>
        <p:grpSpPr>
          <a:xfrm>
            <a:off x="2166573" y="2944098"/>
            <a:ext cx="2412329" cy="3043076"/>
            <a:chOff x="0" y="0"/>
            <a:chExt cx="3216439" cy="4057435"/>
          </a:xfrm>
        </p:grpSpPr>
        <p:sp>
          <p:nvSpPr>
            <p:cNvPr id="66" name="Google Shape;66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67" name="Google Shape;67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68" name="Google Shape;68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" name="Google Shape;70;p7"/>
          <p:cNvGrpSpPr/>
          <p:nvPr/>
        </p:nvGrpSpPr>
        <p:grpSpPr>
          <a:xfrm>
            <a:off x="6014081" y="2944098"/>
            <a:ext cx="2412329" cy="3043076"/>
            <a:chOff x="0" y="0"/>
            <a:chExt cx="3216439" cy="4057435"/>
          </a:xfrm>
        </p:grpSpPr>
        <p:sp>
          <p:nvSpPr>
            <p:cNvPr id="71" name="Google Shape;71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72" name="Google Shape;72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73" name="Google Shape;73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5" name="Google Shape;75;p7"/>
          <p:cNvGrpSpPr/>
          <p:nvPr/>
        </p:nvGrpSpPr>
        <p:grpSpPr>
          <a:xfrm>
            <a:off x="9861589" y="2944098"/>
            <a:ext cx="2412329" cy="3043076"/>
            <a:chOff x="0" y="0"/>
            <a:chExt cx="3216439" cy="4057435"/>
          </a:xfrm>
        </p:grpSpPr>
        <p:sp>
          <p:nvSpPr>
            <p:cNvPr id="76" name="Google Shape;76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77" name="Google Shape;77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78" name="Google Shape;78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" name="Google Shape;80;p7"/>
          <p:cNvGrpSpPr/>
          <p:nvPr/>
        </p:nvGrpSpPr>
        <p:grpSpPr>
          <a:xfrm>
            <a:off x="13709097" y="2944098"/>
            <a:ext cx="2412329" cy="3043076"/>
            <a:chOff x="0" y="0"/>
            <a:chExt cx="3216439" cy="4057435"/>
          </a:xfrm>
        </p:grpSpPr>
        <p:sp>
          <p:nvSpPr>
            <p:cNvPr id="81" name="Google Shape;81;p7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82" name="Google Shape;82;p7"/>
            <p:cNvGrpSpPr/>
            <p:nvPr/>
          </p:nvGrpSpPr>
          <p:grpSpPr>
            <a:xfrm>
              <a:off x="497212" y="353734"/>
              <a:ext cx="2222033" cy="2248072"/>
              <a:chOff x="0" y="-9525"/>
              <a:chExt cx="812800" cy="822325"/>
            </a:xfrm>
          </p:grpSpPr>
          <p:sp>
            <p:nvSpPr>
              <p:cNvPr id="83" name="Google Shape;83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7"/>
              <p:cNvSpPr txBox="1"/>
              <p:nvPr/>
            </p:nvSpPr>
            <p:spPr>
              <a:xfrm>
                <a:off x="76200" y="-9525"/>
                <a:ext cx="660300" cy="74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5" name="Google Shape;85;p7"/>
          <p:cNvCxnSpPr/>
          <p:nvPr/>
        </p:nvCxnSpPr>
        <p:spPr>
          <a:xfrm>
            <a:off x="0" y="646513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F5F6F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86" name="Google Shape;86;p7"/>
          <p:cNvGrpSpPr/>
          <p:nvPr/>
        </p:nvGrpSpPr>
        <p:grpSpPr>
          <a:xfrm>
            <a:off x="7017575" y="6278589"/>
            <a:ext cx="405343" cy="410093"/>
            <a:chOff x="0" y="-9525"/>
            <a:chExt cx="812800" cy="822325"/>
          </a:xfrm>
        </p:grpSpPr>
        <p:sp>
          <p:nvSpPr>
            <p:cNvPr id="87" name="Google Shape;87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" name="Google Shape;89;p7"/>
          <p:cNvGrpSpPr/>
          <p:nvPr/>
        </p:nvGrpSpPr>
        <p:grpSpPr>
          <a:xfrm>
            <a:off x="14705308" y="6278589"/>
            <a:ext cx="405343" cy="410093"/>
            <a:chOff x="0" y="-9525"/>
            <a:chExt cx="812800" cy="822325"/>
          </a:xfrm>
        </p:grpSpPr>
        <p:sp>
          <p:nvSpPr>
            <p:cNvPr id="90" name="Google Shape;90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p7"/>
          <p:cNvGrpSpPr/>
          <p:nvPr/>
        </p:nvGrpSpPr>
        <p:grpSpPr>
          <a:xfrm>
            <a:off x="10861442" y="6259588"/>
            <a:ext cx="405343" cy="429094"/>
            <a:chOff x="0" y="-47625"/>
            <a:chExt cx="812800" cy="860425"/>
          </a:xfrm>
        </p:grpSpPr>
        <p:sp>
          <p:nvSpPr>
            <p:cNvPr id="93" name="Google Shape;93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5" name="Google Shape;95;p7"/>
          <p:cNvGrpSpPr/>
          <p:nvPr/>
        </p:nvGrpSpPr>
        <p:grpSpPr>
          <a:xfrm>
            <a:off x="3170068" y="6259588"/>
            <a:ext cx="405343" cy="429094"/>
            <a:chOff x="0" y="-47625"/>
            <a:chExt cx="812800" cy="860425"/>
          </a:xfrm>
        </p:grpSpPr>
        <p:sp>
          <p:nvSpPr>
            <p:cNvPr id="96" name="Google Shape;96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7"/>
            <p:cNvSpPr txBox="1"/>
            <p:nvPr/>
          </p:nvSpPr>
          <p:spPr>
            <a:xfrm>
              <a:off x="76200" y="-47625"/>
              <a:ext cx="660300" cy="7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4125" y="3505584"/>
            <a:ext cx="1404250" cy="151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3207" y="3519677"/>
            <a:ext cx="1404250" cy="143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65625" y="3577545"/>
            <a:ext cx="1404250" cy="1366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126200" y="3515075"/>
            <a:ext cx="1496049" cy="151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 txBox="1">
            <a:spLocks noGrp="1"/>
          </p:cNvSpPr>
          <p:nvPr>
            <p:ph type="subTitle" idx="1"/>
          </p:nvPr>
        </p:nvSpPr>
        <p:spPr>
          <a:xfrm>
            <a:off x="1891500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body" idx="2"/>
          </p:nvPr>
        </p:nvSpPr>
        <p:spPr>
          <a:xfrm>
            <a:off x="1783800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7"/>
          <p:cNvSpPr txBox="1">
            <a:spLocks noGrp="1"/>
          </p:cNvSpPr>
          <p:nvPr>
            <p:ph type="subTitle" idx="3"/>
          </p:nvPr>
        </p:nvSpPr>
        <p:spPr>
          <a:xfrm>
            <a:off x="5755488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7"/>
          <p:cNvSpPr txBox="1">
            <a:spLocks noGrp="1"/>
          </p:cNvSpPr>
          <p:nvPr>
            <p:ph type="body" idx="4"/>
          </p:nvPr>
        </p:nvSpPr>
        <p:spPr>
          <a:xfrm>
            <a:off x="5647788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7"/>
          <p:cNvSpPr txBox="1">
            <a:spLocks noGrp="1"/>
          </p:cNvSpPr>
          <p:nvPr>
            <p:ph type="subTitle" idx="5"/>
          </p:nvPr>
        </p:nvSpPr>
        <p:spPr>
          <a:xfrm>
            <a:off x="9599350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7"/>
          <p:cNvSpPr txBox="1">
            <a:spLocks noGrp="1"/>
          </p:cNvSpPr>
          <p:nvPr>
            <p:ph type="body" idx="6"/>
          </p:nvPr>
        </p:nvSpPr>
        <p:spPr>
          <a:xfrm>
            <a:off x="9491650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7"/>
          <p:cNvSpPr txBox="1">
            <a:spLocks noGrp="1"/>
          </p:cNvSpPr>
          <p:nvPr>
            <p:ph type="subTitle" idx="7"/>
          </p:nvPr>
        </p:nvSpPr>
        <p:spPr>
          <a:xfrm>
            <a:off x="13409475" y="7031575"/>
            <a:ext cx="29295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7"/>
          <p:cNvSpPr txBox="1">
            <a:spLocks noGrp="1"/>
          </p:cNvSpPr>
          <p:nvPr>
            <p:ph type="body" idx="8"/>
          </p:nvPr>
        </p:nvSpPr>
        <p:spPr>
          <a:xfrm>
            <a:off x="13301775" y="7984050"/>
            <a:ext cx="3144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5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>
            <a:spLocks noGrp="1"/>
          </p:cNvSpPr>
          <p:nvPr>
            <p:ph type="title"/>
          </p:nvPr>
        </p:nvSpPr>
        <p:spPr>
          <a:xfrm>
            <a:off x="1028700" y="336428"/>
            <a:ext cx="17266800" cy="161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0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12" name="Google Shape;112;p8"/>
          <p:cNvGrpSpPr/>
          <p:nvPr/>
        </p:nvGrpSpPr>
        <p:grpSpPr>
          <a:xfrm rot="2700000">
            <a:off x="5894142" y="2591171"/>
            <a:ext cx="6719013" cy="6797752"/>
            <a:chOff x="0" y="-9525"/>
            <a:chExt cx="812800" cy="822325"/>
          </a:xfrm>
        </p:grpSpPr>
        <p:sp>
          <p:nvSpPr>
            <p:cNvPr id="113" name="Google Shape;113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" name="Google Shape;115;p8"/>
          <p:cNvGrpSpPr/>
          <p:nvPr/>
        </p:nvGrpSpPr>
        <p:grpSpPr>
          <a:xfrm rot="2700000">
            <a:off x="7512925" y="4256078"/>
            <a:ext cx="3454396" cy="3494877"/>
            <a:chOff x="0" y="-9525"/>
            <a:chExt cx="812800" cy="822325"/>
          </a:xfrm>
        </p:grpSpPr>
        <p:sp>
          <p:nvSpPr>
            <p:cNvPr id="116" name="Google Shape;116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8"/>
          <p:cNvGrpSpPr/>
          <p:nvPr/>
        </p:nvGrpSpPr>
        <p:grpSpPr>
          <a:xfrm rot="2700000">
            <a:off x="10449623" y="2705149"/>
            <a:ext cx="2076752" cy="2101089"/>
            <a:chOff x="0" y="-9525"/>
            <a:chExt cx="812800" cy="822325"/>
          </a:xfrm>
        </p:grpSpPr>
        <p:sp>
          <p:nvSpPr>
            <p:cNvPr id="119" name="Google Shape;119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8"/>
          <p:cNvGrpSpPr/>
          <p:nvPr/>
        </p:nvGrpSpPr>
        <p:grpSpPr>
          <a:xfrm rot="2700000">
            <a:off x="5945052" y="7209720"/>
            <a:ext cx="2076752" cy="2101089"/>
            <a:chOff x="0" y="-9525"/>
            <a:chExt cx="812800" cy="822325"/>
          </a:xfrm>
        </p:grpSpPr>
        <p:sp>
          <p:nvSpPr>
            <p:cNvPr id="122" name="Google Shape;122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8"/>
          <p:cNvGrpSpPr/>
          <p:nvPr/>
        </p:nvGrpSpPr>
        <p:grpSpPr>
          <a:xfrm rot="2700000">
            <a:off x="10412666" y="7178165"/>
            <a:ext cx="2076752" cy="2101089"/>
            <a:chOff x="0" y="-9525"/>
            <a:chExt cx="812800" cy="822325"/>
          </a:xfrm>
        </p:grpSpPr>
        <p:sp>
          <p:nvSpPr>
            <p:cNvPr id="125" name="Google Shape;125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8"/>
          <p:cNvGrpSpPr/>
          <p:nvPr/>
        </p:nvGrpSpPr>
        <p:grpSpPr>
          <a:xfrm rot="2700000">
            <a:off x="5820521" y="2583214"/>
            <a:ext cx="2076752" cy="2101089"/>
            <a:chOff x="0" y="-9525"/>
            <a:chExt cx="812800" cy="822325"/>
          </a:xfrm>
        </p:grpSpPr>
        <p:sp>
          <p:nvSpPr>
            <p:cNvPr id="128" name="Google Shape;128;p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524D"/>
            </a:solidFill>
            <a:ln w="38100" cap="sq" cmpd="sng">
              <a:solidFill>
                <a:srgbClr val="CCFFA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8"/>
            <p:cNvSpPr txBox="1"/>
            <p:nvPr/>
          </p:nvSpPr>
          <p:spPr>
            <a:xfrm>
              <a:off x="76200" y="-9525"/>
              <a:ext cx="660300" cy="74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8"/>
          <p:cNvSpPr/>
          <p:nvPr/>
        </p:nvSpPr>
        <p:spPr>
          <a:xfrm>
            <a:off x="10948748" y="3133865"/>
            <a:ext cx="1064777" cy="1155083"/>
          </a:xfrm>
          <a:custGeom>
            <a:avLst/>
            <a:gdLst/>
            <a:ahLst/>
            <a:cxnLst/>
            <a:rect l="l" t="t" r="r" b="b"/>
            <a:pathLst>
              <a:path w="1064777" h="1155083" extrusionOk="0">
                <a:moveTo>
                  <a:pt x="0" y="0"/>
                </a:moveTo>
                <a:lnTo>
                  <a:pt x="1064777" y="0"/>
                </a:lnTo>
                <a:lnTo>
                  <a:pt x="1064777" y="1155084"/>
                </a:lnTo>
                <a:lnTo>
                  <a:pt x="0" y="11550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1" name="Google Shape;131;p8"/>
          <p:cNvSpPr/>
          <p:nvPr/>
        </p:nvSpPr>
        <p:spPr>
          <a:xfrm>
            <a:off x="6357468" y="3107111"/>
            <a:ext cx="1014804" cy="1041311"/>
          </a:xfrm>
          <a:custGeom>
            <a:avLst/>
            <a:gdLst/>
            <a:ahLst/>
            <a:cxnLst/>
            <a:rect l="l" t="t" r="r" b="b"/>
            <a:pathLst>
              <a:path w="1014804" h="1041311" extrusionOk="0">
                <a:moveTo>
                  <a:pt x="0" y="0"/>
                </a:moveTo>
                <a:lnTo>
                  <a:pt x="1014804" y="0"/>
                </a:lnTo>
                <a:lnTo>
                  <a:pt x="1014804" y="1041310"/>
                </a:lnTo>
                <a:lnTo>
                  <a:pt x="0" y="10413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2" name="Google Shape;132;p8"/>
          <p:cNvSpPr/>
          <p:nvPr/>
        </p:nvSpPr>
        <p:spPr>
          <a:xfrm>
            <a:off x="10918284" y="7688926"/>
            <a:ext cx="1048308" cy="1061822"/>
          </a:xfrm>
          <a:custGeom>
            <a:avLst/>
            <a:gdLst/>
            <a:ahLst/>
            <a:cxnLst/>
            <a:rect l="l" t="t" r="r" b="b"/>
            <a:pathLst>
              <a:path w="1048308" h="1061822" extrusionOk="0">
                <a:moveTo>
                  <a:pt x="0" y="0"/>
                </a:moveTo>
                <a:lnTo>
                  <a:pt x="1048307" y="0"/>
                </a:lnTo>
                <a:lnTo>
                  <a:pt x="1048307" y="1061822"/>
                </a:lnTo>
                <a:lnTo>
                  <a:pt x="0" y="10618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3" name="Google Shape;133;p8"/>
          <p:cNvSpPr/>
          <p:nvPr/>
        </p:nvSpPr>
        <p:spPr>
          <a:xfrm>
            <a:off x="8318758" y="4965104"/>
            <a:ext cx="1900948" cy="1835279"/>
          </a:xfrm>
          <a:custGeom>
            <a:avLst/>
            <a:gdLst/>
            <a:ahLst/>
            <a:cxnLst/>
            <a:rect l="l" t="t" r="r" b="b"/>
            <a:pathLst>
              <a:path w="1900948" h="1835279" extrusionOk="0">
                <a:moveTo>
                  <a:pt x="0" y="0"/>
                </a:moveTo>
                <a:lnTo>
                  <a:pt x="1900948" y="0"/>
                </a:lnTo>
                <a:lnTo>
                  <a:pt x="1900948" y="1835279"/>
                </a:lnTo>
                <a:lnTo>
                  <a:pt x="0" y="18352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4" name="Google Shape;134;p8"/>
          <p:cNvSpPr/>
          <p:nvPr/>
        </p:nvSpPr>
        <p:spPr>
          <a:xfrm>
            <a:off x="6459715" y="7625567"/>
            <a:ext cx="1030217" cy="1293652"/>
          </a:xfrm>
          <a:custGeom>
            <a:avLst/>
            <a:gdLst/>
            <a:ahLst/>
            <a:cxnLst/>
            <a:rect l="l" t="t" r="r" b="b"/>
            <a:pathLst>
              <a:path w="1030217" h="1293652" extrusionOk="0">
                <a:moveTo>
                  <a:pt x="0" y="0"/>
                </a:moveTo>
                <a:lnTo>
                  <a:pt x="1030217" y="0"/>
                </a:lnTo>
                <a:lnTo>
                  <a:pt x="1030217" y="1293652"/>
                </a:lnTo>
                <a:lnTo>
                  <a:pt x="0" y="12936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135" name="Google Shape;135;p8"/>
          <p:cNvCxnSpPr/>
          <p:nvPr/>
        </p:nvCxnSpPr>
        <p:spPr>
          <a:xfrm>
            <a:off x="2179356" y="3402249"/>
            <a:ext cx="36765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36;p8"/>
          <p:cNvCxnSpPr/>
          <p:nvPr/>
        </p:nvCxnSpPr>
        <p:spPr>
          <a:xfrm>
            <a:off x="2179356" y="7707976"/>
            <a:ext cx="39588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" name="Google Shape;137;p8"/>
          <p:cNvCxnSpPr/>
          <p:nvPr/>
        </p:nvCxnSpPr>
        <p:spPr>
          <a:xfrm>
            <a:off x="12443842" y="3402249"/>
            <a:ext cx="37302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8" name="Google Shape;138;p8"/>
          <p:cNvCxnSpPr/>
          <p:nvPr/>
        </p:nvCxnSpPr>
        <p:spPr>
          <a:xfrm>
            <a:off x="12443842" y="7707976"/>
            <a:ext cx="3958800" cy="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8"/>
          <p:cNvSpPr txBox="1">
            <a:spLocks noGrp="1"/>
          </p:cNvSpPr>
          <p:nvPr>
            <p:ph type="subTitle" idx="1"/>
          </p:nvPr>
        </p:nvSpPr>
        <p:spPr>
          <a:xfrm>
            <a:off x="140575" y="2697968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8"/>
          <p:cNvSpPr txBox="1">
            <a:spLocks noGrp="1"/>
          </p:cNvSpPr>
          <p:nvPr>
            <p:ph type="body" idx="2"/>
          </p:nvPr>
        </p:nvSpPr>
        <p:spPr>
          <a:xfrm>
            <a:off x="952275" y="3604735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r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r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r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subTitle" idx="3"/>
          </p:nvPr>
        </p:nvSpPr>
        <p:spPr>
          <a:xfrm>
            <a:off x="140575" y="7057217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r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r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r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"/>
          <p:cNvSpPr txBox="1">
            <a:spLocks noGrp="1"/>
          </p:cNvSpPr>
          <p:nvPr>
            <p:ph type="body" idx="4"/>
          </p:nvPr>
        </p:nvSpPr>
        <p:spPr>
          <a:xfrm>
            <a:off x="952275" y="7963983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r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r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r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r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8"/>
          <p:cNvSpPr txBox="1">
            <a:spLocks noGrp="1"/>
          </p:cNvSpPr>
          <p:nvPr>
            <p:ph type="subTitle" idx="5"/>
          </p:nvPr>
        </p:nvSpPr>
        <p:spPr>
          <a:xfrm>
            <a:off x="13233425" y="2697968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l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8"/>
          <p:cNvSpPr txBox="1">
            <a:spLocks noGrp="1"/>
          </p:cNvSpPr>
          <p:nvPr>
            <p:ph type="body" idx="6"/>
          </p:nvPr>
        </p:nvSpPr>
        <p:spPr>
          <a:xfrm>
            <a:off x="13270400" y="3604735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8"/>
          <p:cNvSpPr txBox="1">
            <a:spLocks noGrp="1"/>
          </p:cNvSpPr>
          <p:nvPr>
            <p:ph type="subTitle" idx="7"/>
          </p:nvPr>
        </p:nvSpPr>
        <p:spPr>
          <a:xfrm>
            <a:off x="13233425" y="7057218"/>
            <a:ext cx="4914000" cy="60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640"/>
              </a:spcBef>
              <a:spcAft>
                <a:spcPts val="0"/>
              </a:spcAft>
              <a:buSzPts val="2550"/>
              <a:buNone/>
              <a:defRPr sz="2550" b="1"/>
            </a:lvl1pPr>
            <a:lvl2pPr lvl="1" algn="l" rtl="0">
              <a:spcBef>
                <a:spcPts val="56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spcBef>
                <a:spcPts val="480"/>
              </a:spcBef>
              <a:spcAft>
                <a:spcPts val="0"/>
              </a:spcAft>
              <a:buSzPts val="2000"/>
              <a:buNone/>
              <a:defRPr/>
            </a:lvl3pPr>
            <a:lvl4pPr lvl="3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 rtl="0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body" idx="8"/>
          </p:nvPr>
        </p:nvSpPr>
        <p:spPr>
          <a:xfrm>
            <a:off x="13270400" y="7963985"/>
            <a:ext cx="4209900" cy="170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 rtl="0">
              <a:spcBef>
                <a:spcPts val="64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55600" algn="l" rtl="0">
              <a:spcBef>
                <a:spcPts val="560"/>
              </a:spcBef>
              <a:spcAft>
                <a:spcPts val="0"/>
              </a:spcAft>
              <a:buSzPts val="2000"/>
              <a:buChar char="–"/>
              <a:defRPr/>
            </a:lvl2pPr>
            <a:lvl3pPr marL="1371600" lvl="2" indent="-355600" algn="l" rtl="0">
              <a:spcBef>
                <a:spcPts val="48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10600" y="274650"/>
            <a:ext cx="17266800" cy="16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CCFFA4"/>
              </a:buClr>
              <a:buSzPts val="10500"/>
              <a:buFont typeface="Rajdhani"/>
              <a:buNone/>
              <a:defRPr sz="1050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29200" y="25049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ctr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55600" algn="ctr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–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ctr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–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»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55600" algn="ctr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ato"/>
              <a:buChar char="•"/>
              <a:defRPr sz="200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"/>
          <p:cNvSpPr/>
          <p:nvPr/>
        </p:nvSpPr>
        <p:spPr>
          <a:xfrm>
            <a:off x="9411612" y="8303699"/>
            <a:ext cx="8437612" cy="1011751"/>
          </a:xfrm>
          <a:custGeom>
            <a:avLst/>
            <a:gdLst/>
            <a:ahLst/>
            <a:cxnLst/>
            <a:rect l="l" t="t" r="r" b="b"/>
            <a:pathLst>
              <a:path w="2222252" h="266469" extrusionOk="0">
                <a:moveTo>
                  <a:pt x="1111126" y="0"/>
                </a:moveTo>
                <a:cubicBezTo>
                  <a:pt x="497468" y="0"/>
                  <a:pt x="0" y="59651"/>
                  <a:pt x="0" y="133235"/>
                </a:cubicBezTo>
                <a:cubicBezTo>
                  <a:pt x="0" y="206818"/>
                  <a:pt x="497468" y="266469"/>
                  <a:pt x="1111126" y="266469"/>
                </a:cubicBezTo>
                <a:cubicBezTo>
                  <a:pt x="1724784" y="266469"/>
                  <a:pt x="2222252" y="206818"/>
                  <a:pt x="2222252" y="133235"/>
                </a:cubicBezTo>
                <a:cubicBezTo>
                  <a:pt x="2222252" y="59651"/>
                  <a:pt x="1724784" y="0"/>
                  <a:pt x="1111126" y="0"/>
                </a:cubicBezTo>
                <a:close/>
              </a:path>
            </a:pathLst>
          </a:custGeom>
          <a:solidFill>
            <a:srgbClr val="0730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9"/>
          <p:cNvPicPr preferRelativeResize="0"/>
          <p:nvPr/>
        </p:nvPicPr>
        <p:blipFill rotWithShape="1">
          <a:blip r:embed="rId3">
            <a:alphaModFix/>
          </a:blip>
          <a:srcRect r="3437"/>
          <a:stretch/>
        </p:blipFill>
        <p:spPr>
          <a:xfrm>
            <a:off x="8617318" y="971550"/>
            <a:ext cx="10026200" cy="279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31801" y="3192799"/>
            <a:ext cx="7617423" cy="5789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 txBox="1"/>
          <p:nvPr/>
        </p:nvSpPr>
        <p:spPr>
          <a:xfrm>
            <a:off x="644261" y="2284248"/>
            <a:ext cx="9390693" cy="4632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48" dirty="0">
                <a:solidFill>
                  <a:srgbClr val="FFFFFF"/>
                </a:solidFill>
                <a:latin typeface="Rajdhani"/>
                <a:cs typeface="Rajdhani"/>
                <a:sym typeface="Rajdhani"/>
              </a:rPr>
              <a:t>Concurrent Voice-Command ML Pipeline</a:t>
            </a:r>
            <a:endParaRPr lang="en-US" dirty="0"/>
          </a:p>
        </p:txBody>
      </p:sp>
      <p:sp>
        <p:nvSpPr>
          <p:cNvPr id="155" name="Google Shape;155;p9"/>
          <p:cNvSpPr txBox="1"/>
          <p:nvPr/>
        </p:nvSpPr>
        <p:spPr>
          <a:xfrm>
            <a:off x="644261" y="6990958"/>
            <a:ext cx="9718200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CCFF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Fayez Slika – 6706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rgbClr val="CCFF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Jad</a:t>
            </a:r>
            <a:r>
              <a:rPr lang="en-US" sz="2800" dirty="0">
                <a:solidFill>
                  <a:srgbClr val="CCFF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2800" dirty="0" err="1">
                <a:solidFill>
                  <a:srgbClr val="CCFF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Bou</a:t>
            </a:r>
            <a:r>
              <a:rPr lang="en-US" sz="2800" dirty="0">
                <a:solidFill>
                  <a:srgbClr val="CCFF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Nassif – 6337</a:t>
            </a: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CCFF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Karim </a:t>
            </a:r>
            <a:r>
              <a:rPr lang="en-US" sz="2800" dirty="0" err="1">
                <a:solidFill>
                  <a:srgbClr val="CCFF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Bashnak</a:t>
            </a:r>
            <a:r>
              <a:rPr lang="en-US" sz="2800" dirty="0">
                <a:solidFill>
                  <a:srgbClr val="CCFF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- 6613</a:t>
            </a:r>
            <a:endParaRPr sz="2800" dirty="0">
              <a:solidFill>
                <a:srgbClr val="CCFFA4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1028700" y="691404"/>
            <a:ext cx="6121772" cy="50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4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06</a:t>
            </a:r>
            <a:r>
              <a:rPr lang="en-US" sz="234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/ </a:t>
            </a:r>
            <a:r>
              <a:rPr lang="en-US" sz="234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07</a:t>
            </a:r>
            <a:r>
              <a:rPr lang="en-US" sz="234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/ </a:t>
            </a:r>
            <a:r>
              <a:rPr lang="en-US" sz="234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1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185" name="Google Shape;185;p11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186" name="Google Shape;186;p11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1"/>
          <p:cNvSpPr txBox="1"/>
          <p:nvPr/>
        </p:nvSpPr>
        <p:spPr>
          <a:xfrm>
            <a:off x="331534" y="7447761"/>
            <a:ext cx="3231000" cy="283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 sz="15000" dirty="0"/>
          </a:p>
        </p:txBody>
      </p:sp>
      <p:sp>
        <p:nvSpPr>
          <p:cNvPr id="188" name="Google Shape;188;p11"/>
          <p:cNvSpPr txBox="1"/>
          <p:nvPr/>
        </p:nvSpPr>
        <p:spPr>
          <a:xfrm>
            <a:off x="3562534" y="7572448"/>
            <a:ext cx="14394000" cy="2460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0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System Architecture</a:t>
            </a:r>
            <a:endParaRPr sz="13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E594D8-3414-3E27-5082-0E5FA777D412}"/>
              </a:ext>
            </a:extLst>
          </p:cNvPr>
          <p:cNvSpPr/>
          <p:nvPr/>
        </p:nvSpPr>
        <p:spPr>
          <a:xfrm>
            <a:off x="0" y="-30763"/>
            <a:ext cx="5103552" cy="73185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Stage 1:</a:t>
            </a:r>
            <a:r>
              <a:rPr lang="en-US" sz="2400" b="0" i="0" dirty="0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Java Pre-processing with sliding-window audio buffering.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8524D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Stage 2:</a:t>
            </a:r>
            <a:r>
              <a:rPr lang="en-US" sz="2400" b="0" i="0" dirty="0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High-performance </a:t>
            </a:r>
            <a:r>
              <a:rPr lang="en-US" sz="2400" b="1" i="0" dirty="0" err="1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gRPC</a:t>
            </a:r>
            <a:r>
              <a:rPr lang="en-US" sz="2400" b="1" i="0" dirty="0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communication</a:t>
            </a:r>
            <a:r>
              <a:rPr lang="en-US" sz="2400" i="0" dirty="0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</a:t>
            </a:r>
            <a:r>
              <a:rPr lang="en-US" sz="2400" b="0" i="0" dirty="0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layer (Port 50051).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8524D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Stage 3:</a:t>
            </a:r>
            <a:r>
              <a:rPr lang="en-US" sz="2400" b="0" i="0" dirty="0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Python-based </a:t>
            </a:r>
            <a:r>
              <a:rPr lang="en-US" sz="2400" b="1" i="0" dirty="0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CNN inference</a:t>
            </a:r>
            <a:r>
              <a:rPr lang="en-US" sz="2400" b="0" i="0" dirty="0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for real-time classification.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8524D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Load Balancing:</a:t>
            </a:r>
            <a:r>
              <a:rPr lang="en-US" sz="2400" b="0" i="0" dirty="0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Active </a:t>
            </a:r>
            <a:r>
              <a:rPr lang="en-US" sz="2400" b="1" i="0" dirty="0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AIMD Control</a:t>
            </a:r>
            <a:r>
              <a:rPr lang="en-US" sz="2400" b="0" i="0" dirty="0">
                <a:solidFill>
                  <a:srgbClr val="08524D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for dynamic concurrency scaling.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8757B2-9FF3-57B9-8915-088C02C6D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3556" y="-61527"/>
            <a:ext cx="13184440" cy="73493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" name="Google Shape;217;p13"/>
          <p:cNvGrpSpPr/>
          <p:nvPr/>
        </p:nvGrpSpPr>
        <p:grpSpPr>
          <a:xfrm>
            <a:off x="2166573" y="2944098"/>
            <a:ext cx="2412329" cy="3043076"/>
            <a:chOff x="0" y="0"/>
            <a:chExt cx="3216439" cy="4057435"/>
          </a:xfrm>
        </p:grpSpPr>
        <p:sp>
          <p:nvSpPr>
            <p:cNvPr id="218" name="Google Shape;218;p13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219" name="Google Shape;219;p13"/>
            <p:cNvGrpSpPr/>
            <p:nvPr/>
          </p:nvGrpSpPr>
          <p:grpSpPr>
            <a:xfrm>
              <a:off x="497212" y="353734"/>
              <a:ext cx="2222015" cy="2248054"/>
              <a:chOff x="0" y="-9525"/>
              <a:chExt cx="812800" cy="822325"/>
            </a:xfrm>
          </p:grpSpPr>
          <p:sp>
            <p:nvSpPr>
              <p:cNvPr id="220" name="Google Shape;220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2" name="Google Shape;222;p13"/>
          <p:cNvGrpSpPr/>
          <p:nvPr/>
        </p:nvGrpSpPr>
        <p:grpSpPr>
          <a:xfrm>
            <a:off x="6014081" y="2944098"/>
            <a:ext cx="2412329" cy="3043076"/>
            <a:chOff x="0" y="0"/>
            <a:chExt cx="3216439" cy="4057435"/>
          </a:xfrm>
        </p:grpSpPr>
        <p:sp>
          <p:nvSpPr>
            <p:cNvPr id="223" name="Google Shape;223;p13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224" name="Google Shape;224;p13"/>
            <p:cNvGrpSpPr/>
            <p:nvPr/>
          </p:nvGrpSpPr>
          <p:grpSpPr>
            <a:xfrm>
              <a:off x="497212" y="353734"/>
              <a:ext cx="2222015" cy="2248054"/>
              <a:chOff x="0" y="-9525"/>
              <a:chExt cx="812800" cy="822325"/>
            </a:xfrm>
          </p:grpSpPr>
          <p:sp>
            <p:nvSpPr>
              <p:cNvPr id="225" name="Google Shape;225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7" name="Google Shape;227;p13"/>
          <p:cNvGrpSpPr/>
          <p:nvPr/>
        </p:nvGrpSpPr>
        <p:grpSpPr>
          <a:xfrm>
            <a:off x="9861589" y="2944098"/>
            <a:ext cx="2412329" cy="3043076"/>
            <a:chOff x="0" y="0"/>
            <a:chExt cx="3216439" cy="4057435"/>
          </a:xfrm>
        </p:grpSpPr>
        <p:sp>
          <p:nvSpPr>
            <p:cNvPr id="228" name="Google Shape;228;p13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229" name="Google Shape;229;p13"/>
            <p:cNvGrpSpPr/>
            <p:nvPr/>
          </p:nvGrpSpPr>
          <p:grpSpPr>
            <a:xfrm>
              <a:off x="497212" y="353734"/>
              <a:ext cx="2222015" cy="2248054"/>
              <a:chOff x="0" y="-9525"/>
              <a:chExt cx="812800" cy="822325"/>
            </a:xfrm>
          </p:grpSpPr>
          <p:sp>
            <p:nvSpPr>
              <p:cNvPr id="230" name="Google Shape;230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2" name="Google Shape;232;p13"/>
          <p:cNvGrpSpPr/>
          <p:nvPr/>
        </p:nvGrpSpPr>
        <p:grpSpPr>
          <a:xfrm>
            <a:off x="13709097" y="2944098"/>
            <a:ext cx="2412329" cy="3043076"/>
            <a:chOff x="0" y="0"/>
            <a:chExt cx="3216439" cy="4057435"/>
          </a:xfrm>
        </p:grpSpPr>
        <p:sp>
          <p:nvSpPr>
            <p:cNvPr id="233" name="Google Shape;233;p13"/>
            <p:cNvSpPr/>
            <p:nvPr/>
          </p:nvSpPr>
          <p:spPr>
            <a:xfrm>
              <a:off x="0" y="0"/>
              <a:ext cx="3216439" cy="4057435"/>
            </a:xfrm>
            <a:custGeom>
              <a:avLst/>
              <a:gdLst/>
              <a:ahLst/>
              <a:cxnLst/>
              <a:rect l="l" t="t" r="r" b="b"/>
              <a:pathLst>
                <a:path w="3216439" h="4057435" extrusionOk="0">
                  <a:moveTo>
                    <a:pt x="0" y="0"/>
                  </a:moveTo>
                  <a:lnTo>
                    <a:pt x="3216439" y="0"/>
                  </a:lnTo>
                  <a:lnTo>
                    <a:pt x="3216439" y="4057435"/>
                  </a:lnTo>
                  <a:lnTo>
                    <a:pt x="0" y="405743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grpSp>
          <p:nvGrpSpPr>
            <p:cNvPr id="234" name="Google Shape;234;p13"/>
            <p:cNvGrpSpPr/>
            <p:nvPr/>
          </p:nvGrpSpPr>
          <p:grpSpPr>
            <a:xfrm>
              <a:off x="497212" y="353734"/>
              <a:ext cx="2222015" cy="2248054"/>
              <a:chOff x="0" y="-9525"/>
              <a:chExt cx="812800" cy="822325"/>
            </a:xfrm>
          </p:grpSpPr>
          <p:sp>
            <p:nvSpPr>
              <p:cNvPr id="235" name="Google Shape;235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3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37" name="Google Shape;237;p13"/>
          <p:cNvCxnSpPr/>
          <p:nvPr/>
        </p:nvCxnSpPr>
        <p:spPr>
          <a:xfrm>
            <a:off x="0" y="6465139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F5F6F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38" name="Google Shape;238;p13"/>
          <p:cNvGrpSpPr/>
          <p:nvPr/>
        </p:nvGrpSpPr>
        <p:grpSpPr>
          <a:xfrm>
            <a:off x="7017575" y="6278589"/>
            <a:ext cx="405341" cy="410091"/>
            <a:chOff x="0" y="-9525"/>
            <a:chExt cx="812800" cy="822325"/>
          </a:xfrm>
        </p:grpSpPr>
        <p:sp>
          <p:nvSpPr>
            <p:cNvPr id="239" name="Google Shape;239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13"/>
          <p:cNvGrpSpPr/>
          <p:nvPr/>
        </p:nvGrpSpPr>
        <p:grpSpPr>
          <a:xfrm>
            <a:off x="14705308" y="6278589"/>
            <a:ext cx="405341" cy="410091"/>
            <a:chOff x="0" y="-9525"/>
            <a:chExt cx="812800" cy="822325"/>
          </a:xfrm>
        </p:grpSpPr>
        <p:sp>
          <p:nvSpPr>
            <p:cNvPr id="242" name="Google Shape;242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D2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13"/>
          <p:cNvGrpSpPr/>
          <p:nvPr/>
        </p:nvGrpSpPr>
        <p:grpSpPr>
          <a:xfrm>
            <a:off x="10861442" y="6259589"/>
            <a:ext cx="405341" cy="429091"/>
            <a:chOff x="0" y="-47625"/>
            <a:chExt cx="812800" cy="860425"/>
          </a:xfrm>
        </p:grpSpPr>
        <p:sp>
          <p:nvSpPr>
            <p:cNvPr id="245" name="Google Shape;245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3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13"/>
          <p:cNvGrpSpPr/>
          <p:nvPr/>
        </p:nvGrpSpPr>
        <p:grpSpPr>
          <a:xfrm>
            <a:off x="3170068" y="6259589"/>
            <a:ext cx="405341" cy="429091"/>
            <a:chOff x="0" y="-47625"/>
            <a:chExt cx="812800" cy="860425"/>
          </a:xfrm>
        </p:grpSpPr>
        <p:sp>
          <p:nvSpPr>
            <p:cNvPr id="248" name="Google Shape;248;p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FF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3"/>
            <p:cNvSpPr txBox="1"/>
            <p:nvPr/>
          </p:nvSpPr>
          <p:spPr>
            <a:xfrm>
              <a:off x="76200" y="-47625"/>
              <a:ext cx="660400" cy="78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244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13"/>
          <p:cNvSpPr txBox="1"/>
          <p:nvPr/>
        </p:nvSpPr>
        <p:spPr>
          <a:xfrm>
            <a:off x="1028700" y="634969"/>
            <a:ext cx="11772900" cy="198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dirty="0">
                <a:solidFill>
                  <a:srgbClr val="CCFFA4"/>
                </a:solidFill>
                <a:latin typeface="Rajdhani"/>
                <a:cs typeface="Rajdhani"/>
                <a:sym typeface="Rajdhani"/>
              </a:rPr>
              <a:t>Custom ML Pipeline</a:t>
            </a:r>
            <a:endParaRPr dirty="0"/>
          </a:p>
        </p:txBody>
      </p:sp>
      <p:sp>
        <p:nvSpPr>
          <p:cNvPr id="251" name="Google Shape;251;p13"/>
          <p:cNvSpPr txBox="1"/>
          <p:nvPr/>
        </p:nvSpPr>
        <p:spPr>
          <a:xfrm>
            <a:off x="2023338" y="7775425"/>
            <a:ext cx="26988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Slices sliding-window byte array into exact 1.0-second chunks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6014077" y="7775425"/>
            <a:ext cx="24123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Uses </a:t>
            </a:r>
            <a:r>
              <a:rPr lang="en-US" sz="2000" dirty="0" err="1">
                <a:solidFill>
                  <a:srgbClr val="FFFFFF"/>
                </a:solidFill>
                <a:latin typeface="Lato"/>
                <a:ea typeface="Lato"/>
                <a:cs typeface="Lato"/>
              </a:rPr>
              <a:t>Librosa</a:t>
            </a: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 to mathematically map audio into a 40x32 feature matrix.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9718376" y="7775425"/>
            <a:ext cx="26988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Custom architecture trained from scratch on 19,000 balanced files.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4" name="Google Shape;254;p13"/>
          <p:cNvSpPr txBox="1"/>
          <p:nvPr/>
        </p:nvSpPr>
        <p:spPr>
          <a:xfrm>
            <a:off x="13603275" y="7775425"/>
            <a:ext cx="2623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Strict &gt;90% threshold to drop background noise and prevent false positives.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2060925" y="7031575"/>
            <a:ext cx="2805625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Raw Audio Slicing</a:t>
            </a:r>
            <a:endParaRPr sz="2599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6" name="Google Shape;256;p13"/>
          <p:cNvSpPr txBox="1"/>
          <p:nvPr/>
        </p:nvSpPr>
        <p:spPr>
          <a:xfrm>
            <a:off x="5848528" y="7031575"/>
            <a:ext cx="2865466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MFCC Extraction</a:t>
            </a:r>
            <a:endParaRPr sz="2599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9574007" y="7031580"/>
            <a:ext cx="3227594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CNN Inference</a:t>
            </a:r>
            <a:endParaRPr sz="2599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13482150" y="7031575"/>
            <a:ext cx="2866200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Confidence Gate</a:t>
            </a:r>
            <a:endParaRPr sz="2599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259" name="Google Shape;2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54125" y="3505584"/>
            <a:ext cx="1404250" cy="151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53207" y="3519677"/>
            <a:ext cx="1404250" cy="143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365625" y="3577545"/>
            <a:ext cx="1404250" cy="1366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126200" y="3515075"/>
            <a:ext cx="1496049" cy="15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64;p10">
            <a:extLst>
              <a:ext uri="{FF2B5EF4-FFF2-40B4-BE49-F238E27FC236}">
                <a16:creationId xmlns:a16="http://schemas.microsoft.com/office/drawing/2014/main" id="{DD94C7FC-EFC8-ACC8-EF4E-DAD44B8333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399171" y="1608081"/>
            <a:ext cx="7279529" cy="4106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4;p10">
            <a:extLst>
              <a:ext uri="{FF2B5EF4-FFF2-40B4-BE49-F238E27FC236}">
                <a16:creationId xmlns:a16="http://schemas.microsoft.com/office/drawing/2014/main" id="{8C1A3EA3-6912-2B62-4AB4-2D0A9EA6AA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412135" y="5715000"/>
            <a:ext cx="7279529" cy="410691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/>
        </p:nvSpPr>
        <p:spPr>
          <a:xfrm>
            <a:off x="765546" y="355518"/>
            <a:ext cx="7176900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CCFFA4"/>
                </a:solidFill>
                <a:latin typeface="Rajdhani"/>
                <a:cs typeface="Rajdhani"/>
                <a:sym typeface="Rajdhani"/>
              </a:rPr>
              <a:t>CNN Evaluation</a:t>
            </a:r>
            <a:endParaRPr sz="8800" dirty="0"/>
          </a:p>
        </p:txBody>
      </p:sp>
      <p:sp>
        <p:nvSpPr>
          <p:cNvPr id="167" name="Google Shape;167;p10"/>
          <p:cNvSpPr txBox="1"/>
          <p:nvPr/>
        </p:nvSpPr>
        <p:spPr>
          <a:xfrm>
            <a:off x="765546" y="2422331"/>
            <a:ext cx="2506543" cy="1207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08524D"/>
                </a:solidFill>
                <a:latin typeface="Rajdhani"/>
                <a:cs typeface="Rajdhani"/>
                <a:sym typeface="Rajdhani"/>
              </a:rPr>
              <a:t>91.24%</a:t>
            </a:r>
            <a:endParaRPr sz="7200" dirty="0"/>
          </a:p>
        </p:txBody>
      </p:sp>
      <p:sp>
        <p:nvSpPr>
          <p:cNvPr id="168" name="Google Shape;168;p10"/>
          <p:cNvSpPr txBox="1"/>
          <p:nvPr/>
        </p:nvSpPr>
        <p:spPr>
          <a:xfrm>
            <a:off x="1016328" y="6888230"/>
            <a:ext cx="2113608" cy="1207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08524D"/>
                </a:solidFill>
                <a:latin typeface="Rajdhani"/>
                <a:cs typeface="Rajdhani"/>
                <a:sym typeface="Rajdhani"/>
              </a:rPr>
              <a:t>&gt;90%</a:t>
            </a:r>
            <a:endParaRPr sz="7200" dirty="0"/>
          </a:p>
        </p:txBody>
      </p:sp>
      <p:sp>
        <p:nvSpPr>
          <p:cNvPr id="170" name="Google Shape;170;p10"/>
          <p:cNvSpPr txBox="1"/>
          <p:nvPr/>
        </p:nvSpPr>
        <p:spPr>
          <a:xfrm>
            <a:off x="2525743" y="4243231"/>
            <a:ext cx="4843800" cy="79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dirty="0">
                <a:latin typeface="Lato"/>
                <a:ea typeface="Lato"/>
                <a:cs typeface="Lato"/>
              </a:rPr>
              <a:t>Validation Accuracy</a:t>
            </a:r>
            <a:endParaRPr sz="3699" dirty="0">
              <a:latin typeface="Lato"/>
              <a:ea typeface="Lato"/>
              <a:cs typeface="Lato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1520550" y="8370626"/>
            <a:ext cx="6421896" cy="79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dirty="0">
                <a:latin typeface="Lato"/>
                <a:ea typeface="Lato"/>
                <a:cs typeface="Lato"/>
              </a:rPr>
              <a:t>Confidence Gate Threshold</a:t>
            </a:r>
            <a:endParaRPr sz="3699" dirty="0">
              <a:latin typeface="Lato"/>
              <a:ea typeface="Lato"/>
              <a:cs typeface="Lato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644B615-9C05-FA12-7274-D939DE83B5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4694" y="1371601"/>
            <a:ext cx="10063306" cy="8915400"/>
          </a:xfrm>
          <a:prstGeom prst="rect">
            <a:avLst/>
          </a:prstGeom>
        </p:spPr>
      </p:pic>
      <p:sp>
        <p:nvSpPr>
          <p:cNvPr id="14" name="Google Shape;170;p10">
            <a:extLst>
              <a:ext uri="{FF2B5EF4-FFF2-40B4-BE49-F238E27FC236}">
                <a16:creationId xmlns:a16="http://schemas.microsoft.com/office/drawing/2014/main" id="{3C189E9B-19E5-4304-F6B2-969CDDB924F7}"/>
              </a:ext>
            </a:extLst>
          </p:cNvPr>
          <p:cNvSpPr txBox="1"/>
          <p:nvPr/>
        </p:nvSpPr>
        <p:spPr>
          <a:xfrm>
            <a:off x="12145838" y="355518"/>
            <a:ext cx="4843800" cy="79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dirty="0">
                <a:solidFill>
                  <a:srgbClr val="CCFFA4"/>
                </a:solidFill>
                <a:latin typeface="Lato"/>
                <a:ea typeface="Lato"/>
                <a:cs typeface="Lato"/>
                <a:sym typeface="Lato"/>
              </a:rPr>
              <a:t>Confusion Matrix</a:t>
            </a:r>
            <a:endParaRPr dirty="0">
              <a:solidFill>
                <a:srgbClr val="CCFFA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349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4"/>
          <p:cNvPicPr preferRelativeResize="0"/>
          <p:nvPr/>
        </p:nvPicPr>
        <p:blipFill rotWithShape="1">
          <a:blip r:embed="rId3">
            <a:alphaModFix/>
          </a:blip>
          <a:srcRect r="15419"/>
          <a:stretch/>
        </p:blipFill>
        <p:spPr>
          <a:xfrm>
            <a:off x="10293250" y="1470750"/>
            <a:ext cx="7994751" cy="806919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4"/>
          <p:cNvSpPr txBox="1"/>
          <p:nvPr/>
        </p:nvSpPr>
        <p:spPr>
          <a:xfrm>
            <a:off x="1028700" y="634969"/>
            <a:ext cx="9733085" cy="1988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Java Concurrency</a:t>
            </a:r>
            <a:endParaRPr dirty="0"/>
          </a:p>
        </p:txBody>
      </p:sp>
      <p:sp>
        <p:nvSpPr>
          <p:cNvPr id="269" name="Google Shape;269;p14"/>
          <p:cNvSpPr txBox="1"/>
          <p:nvPr/>
        </p:nvSpPr>
        <p:spPr>
          <a:xfrm>
            <a:off x="1942301" y="2508020"/>
            <a:ext cx="1265877" cy="162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01</a:t>
            </a:r>
            <a:endParaRPr/>
          </a:p>
        </p:txBody>
      </p:sp>
      <p:sp>
        <p:nvSpPr>
          <p:cNvPr id="270" name="Google Shape;270;p14"/>
          <p:cNvSpPr txBox="1"/>
          <p:nvPr/>
        </p:nvSpPr>
        <p:spPr>
          <a:xfrm>
            <a:off x="1882384" y="5973416"/>
            <a:ext cx="1385711" cy="162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 dirty="0"/>
          </a:p>
        </p:txBody>
      </p:sp>
      <p:sp>
        <p:nvSpPr>
          <p:cNvPr id="271" name="Google Shape;271;p14"/>
          <p:cNvSpPr txBox="1"/>
          <p:nvPr/>
        </p:nvSpPr>
        <p:spPr>
          <a:xfrm>
            <a:off x="6730118" y="2508020"/>
            <a:ext cx="1599638" cy="162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/>
          </a:p>
        </p:txBody>
      </p:sp>
      <p:sp>
        <p:nvSpPr>
          <p:cNvPr id="272" name="Google Shape;272;p14"/>
          <p:cNvSpPr txBox="1"/>
          <p:nvPr/>
        </p:nvSpPr>
        <p:spPr>
          <a:xfrm>
            <a:off x="6730118" y="5973416"/>
            <a:ext cx="1599638" cy="162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04</a:t>
            </a:r>
            <a:endParaRPr/>
          </a:p>
        </p:txBody>
      </p:sp>
      <p:sp>
        <p:nvSpPr>
          <p:cNvPr id="273" name="Google Shape;273;p14"/>
          <p:cNvSpPr txBox="1"/>
          <p:nvPr/>
        </p:nvSpPr>
        <p:spPr>
          <a:xfrm>
            <a:off x="1250800" y="4521975"/>
            <a:ext cx="26490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Dynamically scaled worker threads to process simultaneous incoming audio streams.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4" name="Google Shape;274;p14"/>
          <p:cNvSpPr txBox="1"/>
          <p:nvPr/>
        </p:nvSpPr>
        <p:spPr>
          <a:xfrm>
            <a:off x="1250700" y="8044800"/>
            <a:ext cx="26490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Custom rejection handler intentionally drops overflow traffic to prevent system collapse.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5" name="Google Shape;275;p14"/>
          <p:cNvSpPr txBox="1"/>
          <p:nvPr/>
        </p:nvSpPr>
        <p:spPr>
          <a:xfrm>
            <a:off x="6205460" y="4521975"/>
            <a:ext cx="2649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Strict capacity limit of 100 requests to protect the JVM from memory exhaustion.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6205460" y="8044808"/>
            <a:ext cx="26490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Non-blocking network calls ensure the main microphone listening thread never freezes.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7" name="Google Shape;277;p14"/>
          <p:cNvSpPr txBox="1"/>
          <p:nvPr/>
        </p:nvSpPr>
        <p:spPr>
          <a:xfrm>
            <a:off x="1028700" y="3959125"/>
            <a:ext cx="3213266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Explicit Thread Pool</a:t>
            </a:r>
            <a:endParaRPr sz="2599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8" name="Google Shape;278;p14"/>
          <p:cNvSpPr txBox="1"/>
          <p:nvPr/>
        </p:nvSpPr>
        <p:spPr>
          <a:xfrm>
            <a:off x="745255" y="7452993"/>
            <a:ext cx="3562028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Active Backpressure</a:t>
            </a:r>
            <a:endParaRPr sz="2599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79" name="Google Shape;279;p14"/>
          <p:cNvSpPr txBox="1"/>
          <p:nvPr/>
        </p:nvSpPr>
        <p:spPr>
          <a:xfrm>
            <a:off x="5780156" y="3959125"/>
            <a:ext cx="3678145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Bounded Queue</a:t>
            </a:r>
            <a:endParaRPr sz="2599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280" name="Google Shape;280;p14"/>
          <p:cNvSpPr txBox="1"/>
          <p:nvPr/>
        </p:nvSpPr>
        <p:spPr>
          <a:xfrm>
            <a:off x="5983400" y="7481961"/>
            <a:ext cx="3093000" cy="65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3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99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Async Execution</a:t>
            </a:r>
            <a:endParaRPr sz="2599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791E06-3C10-5213-D611-B63E84638243}"/>
              </a:ext>
            </a:extLst>
          </p:cNvPr>
          <p:cNvSpPr/>
          <p:nvPr/>
        </p:nvSpPr>
        <p:spPr>
          <a:xfrm>
            <a:off x="-5" y="0"/>
            <a:ext cx="18288005" cy="73654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877CA-7889-33B4-CBD9-6279CEC7E50E}"/>
              </a:ext>
            </a:extLst>
          </p:cNvPr>
          <p:cNvSpPr/>
          <p:nvPr/>
        </p:nvSpPr>
        <p:spPr>
          <a:xfrm>
            <a:off x="0" y="0"/>
            <a:ext cx="6042212" cy="7318571"/>
          </a:xfrm>
          <a:prstGeom prst="rect">
            <a:avLst/>
          </a:prstGeom>
          <a:solidFill>
            <a:srgbClr val="08524D"/>
          </a:solidFill>
          <a:ln>
            <a:solidFill>
              <a:srgbClr val="0852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2" name="Google Shape;332;p16"/>
          <p:cNvGrpSpPr/>
          <p:nvPr/>
        </p:nvGrpSpPr>
        <p:grpSpPr>
          <a:xfrm>
            <a:off x="-5" y="6993084"/>
            <a:ext cx="18288000" cy="3293916"/>
            <a:chOff x="0" y="-85725"/>
            <a:chExt cx="4816593" cy="867533"/>
          </a:xfrm>
        </p:grpSpPr>
        <p:sp>
          <p:nvSpPr>
            <p:cNvPr id="333" name="Google Shape;333;p16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334" name="Google Shape;334;p16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" name="Google Shape;335;p16"/>
          <p:cNvSpPr txBox="1"/>
          <p:nvPr/>
        </p:nvSpPr>
        <p:spPr>
          <a:xfrm>
            <a:off x="654026" y="7497143"/>
            <a:ext cx="3231000" cy="2839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0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02</a:t>
            </a:r>
            <a:endParaRPr sz="15000" dirty="0"/>
          </a:p>
        </p:txBody>
      </p:sp>
      <p:sp>
        <p:nvSpPr>
          <p:cNvPr id="336" name="Google Shape;336;p16"/>
          <p:cNvSpPr txBox="1"/>
          <p:nvPr/>
        </p:nvSpPr>
        <p:spPr>
          <a:xfrm>
            <a:off x="4983412" y="7686425"/>
            <a:ext cx="10841700" cy="2460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23000"/>
              </a:lnSpc>
            </a:pPr>
            <a:r>
              <a:rPr lang="en-US" sz="13000" dirty="0">
                <a:solidFill>
                  <a:srgbClr val="CCFFA4"/>
                </a:solidFill>
                <a:latin typeface="Rajdhani"/>
                <a:cs typeface="Rajdhani"/>
                <a:sym typeface="Rajdhani"/>
              </a:rPr>
              <a:t>CPU Benchmark</a:t>
            </a:r>
            <a:endParaRPr sz="130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7F9CA0B-C8D8-27D4-D664-50B81BF7B5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82661822"/>
              </p:ext>
            </p:extLst>
          </p:nvPr>
        </p:nvGraphicFramePr>
        <p:xfrm>
          <a:off x="6494098" y="46892"/>
          <a:ext cx="11793897" cy="7318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674628A-9108-A07F-27A0-B393B56A41B0}"/>
              </a:ext>
            </a:extLst>
          </p:cNvPr>
          <p:cNvSpPr txBox="1"/>
          <p:nvPr/>
        </p:nvSpPr>
        <p:spPr>
          <a:xfrm>
            <a:off x="451886" y="1697862"/>
            <a:ext cx="5034514" cy="4739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Workload: 5,000 Audio Chunks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Processing: Java Parallel Streams (Multi-Core)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Speedup Factor: 6.05x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D29F"/>
        </a:solid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78224D-BFED-F49E-EAF9-CA2F47417D81}"/>
              </a:ext>
            </a:extLst>
          </p:cNvPr>
          <p:cNvSpPr/>
          <p:nvPr/>
        </p:nvSpPr>
        <p:spPr>
          <a:xfrm>
            <a:off x="1" y="0"/>
            <a:ext cx="18288000" cy="73185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4" name="Google Shape;514;p20"/>
          <p:cNvGrpSpPr/>
          <p:nvPr/>
        </p:nvGrpSpPr>
        <p:grpSpPr>
          <a:xfrm>
            <a:off x="0" y="6993084"/>
            <a:ext cx="18288000" cy="3293916"/>
            <a:chOff x="0" y="-85725"/>
            <a:chExt cx="4816593" cy="867533"/>
          </a:xfrm>
        </p:grpSpPr>
        <p:sp>
          <p:nvSpPr>
            <p:cNvPr id="515" name="Google Shape;515;p20"/>
            <p:cNvSpPr/>
            <p:nvPr/>
          </p:nvSpPr>
          <p:spPr>
            <a:xfrm>
              <a:off x="0" y="0"/>
              <a:ext cx="4816592" cy="781808"/>
            </a:xfrm>
            <a:custGeom>
              <a:avLst/>
              <a:gdLst/>
              <a:ahLst/>
              <a:cxnLst/>
              <a:rect l="l" t="t" r="r" b="b"/>
              <a:pathLst>
                <a:path w="4816592" h="781808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781808"/>
                  </a:lnTo>
                  <a:lnTo>
                    <a:pt x="0" y="781808"/>
                  </a:lnTo>
                  <a:close/>
                </a:path>
              </a:pathLst>
            </a:custGeom>
            <a:solidFill>
              <a:srgbClr val="08524D"/>
            </a:solidFill>
            <a:ln>
              <a:noFill/>
            </a:ln>
          </p:spPr>
        </p:sp>
        <p:sp>
          <p:nvSpPr>
            <p:cNvPr id="516" name="Google Shape;516;p20"/>
            <p:cNvSpPr txBox="1"/>
            <p:nvPr/>
          </p:nvSpPr>
          <p:spPr>
            <a:xfrm>
              <a:off x="0" y="-85725"/>
              <a:ext cx="4816593" cy="8675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1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p20"/>
          <p:cNvSpPr txBox="1"/>
          <p:nvPr/>
        </p:nvSpPr>
        <p:spPr>
          <a:xfrm>
            <a:off x="331466" y="7250374"/>
            <a:ext cx="3230959" cy="2779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969" b="0" i="0" u="none" strike="noStrike" cap="none" dirty="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rPr>
              <a:t>03</a:t>
            </a:r>
            <a:endParaRPr dirty="0"/>
          </a:p>
        </p:txBody>
      </p:sp>
      <p:sp>
        <p:nvSpPr>
          <p:cNvPr id="518" name="Google Shape;518;p20"/>
          <p:cNvSpPr txBox="1"/>
          <p:nvPr/>
        </p:nvSpPr>
        <p:spPr>
          <a:xfrm>
            <a:off x="3893891" y="7137072"/>
            <a:ext cx="13710135" cy="333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CCFFA4"/>
                </a:solidFill>
                <a:latin typeface="Rajdhani"/>
                <a:cs typeface="Rajdhani"/>
              </a:rPr>
              <a:t>Dynamic Congestion Control (AIMD)</a:t>
            </a:r>
            <a:endParaRPr sz="8800" dirty="0">
              <a:solidFill>
                <a:srgbClr val="CCFFA4"/>
              </a:solidFill>
              <a:latin typeface="Rajdhani"/>
              <a:cs typeface="Rajdhani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0ED15F6-D538-E671-DD1E-1A5245FBBA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8507265"/>
              </p:ext>
            </p:extLst>
          </p:nvPr>
        </p:nvGraphicFramePr>
        <p:xfrm>
          <a:off x="7048500" y="0"/>
          <a:ext cx="11239496" cy="7318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7E12BCF-D755-1DD3-BC64-1F4FD90A07D5}"/>
              </a:ext>
            </a:extLst>
          </p:cNvPr>
          <p:cNvSpPr txBox="1"/>
          <p:nvPr/>
        </p:nvSpPr>
        <p:spPr>
          <a:xfrm>
            <a:off x="352508" y="433087"/>
            <a:ext cx="636452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dirty="0">
                <a:solidFill>
                  <a:srgbClr val="0852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Additive Increase: Slowly scales up pool size (checking for network stability).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200" dirty="0">
              <a:solidFill>
                <a:srgbClr val="08524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dirty="0">
                <a:solidFill>
                  <a:srgbClr val="0852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Multiplicative Decrease: Instantly halves pool size when latency spikes above 850ms (protecting the Python ML engine).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3200" dirty="0">
              <a:solidFill>
                <a:srgbClr val="08524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3200" dirty="0">
                <a:solidFill>
                  <a:srgbClr val="0852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Result: A self-regulating system that maintains optimal throughput without manual tuning.</a:t>
            </a:r>
            <a:endParaRPr lang="en-US" sz="3200" dirty="0">
              <a:solidFill>
                <a:srgbClr val="08524D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27720F-74A5-01AB-714F-68B109BEC91A}"/>
              </a:ext>
            </a:extLst>
          </p:cNvPr>
          <p:cNvSpPr txBox="1"/>
          <p:nvPr/>
        </p:nvSpPr>
        <p:spPr>
          <a:xfrm>
            <a:off x="7776153" y="1308571"/>
            <a:ext cx="4247769" cy="461665"/>
          </a:xfrm>
          <a:prstGeom prst="rect">
            <a:avLst/>
          </a:prstGeom>
          <a:noFill/>
          <a:ln>
            <a:solidFill>
              <a:srgbClr val="08524D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852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Threshold: Latency &gt; 850ms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4297F76-798C-F52A-E397-E7F6DE2FB949}"/>
              </a:ext>
            </a:extLst>
          </p:cNvPr>
          <p:cNvCxnSpPr>
            <a:cxnSpLocks/>
          </p:cNvCxnSpPr>
          <p:nvPr/>
        </p:nvCxnSpPr>
        <p:spPr>
          <a:xfrm>
            <a:off x="9900038" y="1842230"/>
            <a:ext cx="0" cy="596170"/>
          </a:xfrm>
          <a:prstGeom prst="straightConnector1">
            <a:avLst/>
          </a:prstGeom>
          <a:ln w="57150">
            <a:solidFill>
              <a:srgbClr val="0852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5978182-2245-F008-3A50-8B63EA6108F0}"/>
              </a:ext>
            </a:extLst>
          </p:cNvPr>
          <p:cNvSpPr txBox="1"/>
          <p:nvPr/>
        </p:nvSpPr>
        <p:spPr>
          <a:xfrm>
            <a:off x="9143999" y="4912667"/>
            <a:ext cx="3514166" cy="461665"/>
          </a:xfrm>
          <a:prstGeom prst="rect">
            <a:avLst/>
          </a:prstGeom>
          <a:noFill/>
          <a:ln>
            <a:solidFill>
              <a:srgbClr val="08524D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8524D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Reaction: 50% reduction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87282E7-F098-7446-BE39-EAE21C2876A1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10237694" y="4425933"/>
            <a:ext cx="663388" cy="486734"/>
          </a:xfrm>
          <a:prstGeom prst="straightConnector1">
            <a:avLst/>
          </a:prstGeom>
          <a:ln w="57150">
            <a:solidFill>
              <a:srgbClr val="08524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64;p10">
            <a:extLst>
              <a:ext uri="{FF2B5EF4-FFF2-40B4-BE49-F238E27FC236}">
                <a16:creationId xmlns:a16="http://schemas.microsoft.com/office/drawing/2014/main" id="{88B87AA8-7C0E-73F5-F9F1-52DAB8A781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263721" y="7996298"/>
            <a:ext cx="8903844" cy="1710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64;p10">
            <a:extLst>
              <a:ext uri="{FF2B5EF4-FFF2-40B4-BE49-F238E27FC236}">
                <a16:creationId xmlns:a16="http://schemas.microsoft.com/office/drawing/2014/main" id="{6A3E16E0-2DC7-9BE8-D71F-5C2601882A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216593" y="6285583"/>
            <a:ext cx="8903844" cy="1710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4;p10">
            <a:extLst>
              <a:ext uri="{FF2B5EF4-FFF2-40B4-BE49-F238E27FC236}">
                <a16:creationId xmlns:a16="http://schemas.microsoft.com/office/drawing/2014/main" id="{8C1A3EA3-6912-2B62-4AB4-2D0A9EA6AA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216593" y="4574866"/>
            <a:ext cx="8903844" cy="17107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/>
          <p:cNvPicPr preferRelativeResize="0"/>
          <p:nvPr/>
        </p:nvPicPr>
        <p:blipFill rotWithShape="1">
          <a:blip r:embed="rId3">
            <a:alphaModFix/>
          </a:blip>
          <a:srcRect r="9107"/>
          <a:stretch/>
        </p:blipFill>
        <p:spPr>
          <a:xfrm>
            <a:off x="216593" y="2850744"/>
            <a:ext cx="8903844" cy="171071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0"/>
          <p:cNvSpPr txBox="1"/>
          <p:nvPr/>
        </p:nvSpPr>
        <p:spPr>
          <a:xfrm>
            <a:off x="765546" y="355518"/>
            <a:ext cx="7176900" cy="2708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CCFFA4"/>
                </a:solidFill>
                <a:latin typeface="Rajdhani"/>
                <a:cs typeface="Rajdhani"/>
                <a:sym typeface="Rajdhani"/>
              </a:rPr>
              <a:t>Resilience &amp; Failure Injection</a:t>
            </a:r>
            <a:endParaRPr sz="8800" dirty="0"/>
          </a:p>
        </p:txBody>
      </p:sp>
      <p:sp>
        <p:nvSpPr>
          <p:cNvPr id="167" name="Google Shape;167;p10"/>
          <p:cNvSpPr txBox="1"/>
          <p:nvPr/>
        </p:nvSpPr>
        <p:spPr>
          <a:xfrm>
            <a:off x="412135" y="3193343"/>
            <a:ext cx="2506543" cy="1207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08524D"/>
                </a:solidFill>
                <a:latin typeface="Rajdhani"/>
                <a:cs typeface="Rajdhani"/>
                <a:sym typeface="Rajdhani"/>
              </a:rPr>
              <a:t>1301</a:t>
            </a:r>
            <a:endParaRPr sz="7200" dirty="0"/>
          </a:p>
        </p:txBody>
      </p:sp>
      <p:sp>
        <p:nvSpPr>
          <p:cNvPr id="168" name="Google Shape;168;p10"/>
          <p:cNvSpPr txBox="1"/>
          <p:nvPr/>
        </p:nvSpPr>
        <p:spPr>
          <a:xfrm>
            <a:off x="412135" y="4880864"/>
            <a:ext cx="2113608" cy="1207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08524D"/>
                </a:solidFill>
                <a:latin typeface="Rajdhani"/>
                <a:cs typeface="Rajdhani"/>
                <a:sym typeface="Rajdhani"/>
              </a:rPr>
              <a:t>153</a:t>
            </a:r>
            <a:endParaRPr sz="7200" dirty="0"/>
          </a:p>
        </p:txBody>
      </p:sp>
      <p:sp>
        <p:nvSpPr>
          <p:cNvPr id="169" name="Google Shape;169;p10"/>
          <p:cNvSpPr txBox="1"/>
          <p:nvPr/>
        </p:nvSpPr>
        <p:spPr>
          <a:xfrm>
            <a:off x="523867" y="6622423"/>
            <a:ext cx="1823171" cy="1207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08524D"/>
                </a:solidFill>
                <a:latin typeface="Rajdhani"/>
                <a:cs typeface="Rajdhani"/>
                <a:sym typeface="Rajdhani"/>
              </a:rPr>
              <a:t>46</a:t>
            </a:r>
            <a:endParaRPr sz="7200" dirty="0"/>
          </a:p>
        </p:txBody>
      </p:sp>
      <p:sp>
        <p:nvSpPr>
          <p:cNvPr id="170" name="Google Shape;170;p10"/>
          <p:cNvSpPr txBox="1"/>
          <p:nvPr/>
        </p:nvSpPr>
        <p:spPr>
          <a:xfrm>
            <a:off x="2834901" y="3367163"/>
            <a:ext cx="4843800" cy="79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Completed Requests</a:t>
            </a:r>
            <a:endParaRPr dirty="0"/>
          </a:p>
        </p:txBody>
      </p:sp>
      <p:sp>
        <p:nvSpPr>
          <p:cNvPr id="171" name="Google Shape;171;p10"/>
          <p:cNvSpPr txBox="1"/>
          <p:nvPr/>
        </p:nvSpPr>
        <p:spPr>
          <a:xfrm>
            <a:off x="2525743" y="5135450"/>
            <a:ext cx="6421896" cy="79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Safely Rejected (Backpressure)</a:t>
            </a:r>
            <a:endParaRPr dirty="0"/>
          </a:p>
        </p:txBody>
      </p:sp>
      <p:sp>
        <p:nvSpPr>
          <p:cNvPr id="172" name="Google Shape;172;p10"/>
          <p:cNvSpPr txBox="1"/>
          <p:nvPr/>
        </p:nvSpPr>
        <p:spPr>
          <a:xfrm>
            <a:off x="2467691" y="6742466"/>
            <a:ext cx="4542009" cy="79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dirty="0">
                <a:latin typeface="Lato"/>
                <a:ea typeface="Lato"/>
                <a:cs typeface="Lato"/>
                <a:sym typeface="Lato"/>
              </a:rPr>
              <a:t>Failed (Timeouts)</a:t>
            </a:r>
            <a:endParaRPr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0ECA7A7-5FB7-B5C1-528B-4F2FEF83A7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48260"/>
              </p:ext>
            </p:extLst>
          </p:nvPr>
        </p:nvGraphicFramePr>
        <p:xfrm>
          <a:off x="9440972" y="721896"/>
          <a:ext cx="8683879" cy="9469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AA6AEC-737F-B297-F580-B6E0CC915D55}"/>
              </a:ext>
            </a:extLst>
          </p:cNvPr>
          <p:cNvCxnSpPr/>
          <p:nvPr/>
        </p:nvCxnSpPr>
        <p:spPr>
          <a:xfrm>
            <a:off x="10387263" y="2791326"/>
            <a:ext cx="7620000" cy="0"/>
          </a:xfrm>
          <a:prstGeom prst="line">
            <a:avLst/>
          </a:prstGeom>
          <a:ln w="57150">
            <a:solidFill>
              <a:srgbClr val="EE561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C80B8C6-40B5-53CE-3216-5F14B432E8E9}"/>
              </a:ext>
            </a:extLst>
          </p:cNvPr>
          <p:cNvSpPr txBox="1"/>
          <p:nvPr/>
        </p:nvSpPr>
        <p:spPr>
          <a:xfrm>
            <a:off x="13877082" y="1541293"/>
            <a:ext cx="4247769" cy="523220"/>
          </a:xfrm>
          <a:prstGeom prst="rect">
            <a:avLst/>
          </a:prstGeom>
          <a:noFill/>
          <a:ln>
            <a:solidFill>
              <a:srgbClr val="CCFFA4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CCFF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gRPC</a:t>
            </a:r>
            <a:r>
              <a:rPr lang="en-US" sz="2800" dirty="0">
                <a:solidFill>
                  <a:srgbClr val="CCFF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Timeout: 1000 </a:t>
            </a:r>
            <a:r>
              <a:rPr lang="en-US" sz="2800" dirty="0" err="1">
                <a:solidFill>
                  <a:srgbClr val="CCFFA4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ms</a:t>
            </a:r>
            <a:endParaRPr lang="en-US" sz="2800" dirty="0">
              <a:solidFill>
                <a:srgbClr val="CCFFA4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163E8D7-BF8B-5990-2D6C-2401D1D51800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4197263" y="2064513"/>
            <a:ext cx="1803704" cy="678687"/>
          </a:xfrm>
          <a:prstGeom prst="straightConnector1">
            <a:avLst/>
          </a:prstGeom>
          <a:ln w="38100">
            <a:solidFill>
              <a:srgbClr val="EE561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169;p10">
            <a:extLst>
              <a:ext uri="{FF2B5EF4-FFF2-40B4-BE49-F238E27FC236}">
                <a16:creationId xmlns:a16="http://schemas.microsoft.com/office/drawing/2014/main" id="{F0E05DF9-6EAE-FD2D-FF95-D6F31D4095F9}"/>
              </a:ext>
            </a:extLst>
          </p:cNvPr>
          <p:cNvSpPr txBox="1"/>
          <p:nvPr/>
        </p:nvSpPr>
        <p:spPr>
          <a:xfrm>
            <a:off x="557353" y="8333140"/>
            <a:ext cx="1823171" cy="1207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08524D"/>
                </a:solidFill>
                <a:latin typeface="Rajdhani"/>
                <a:cs typeface="Rajdhani"/>
                <a:sym typeface="Rajdhani"/>
              </a:rPr>
              <a:t>18.1</a:t>
            </a:r>
            <a:endParaRPr sz="7200" dirty="0"/>
          </a:p>
        </p:txBody>
      </p:sp>
      <p:sp>
        <p:nvSpPr>
          <p:cNvPr id="22" name="Google Shape;172;p10">
            <a:extLst>
              <a:ext uri="{FF2B5EF4-FFF2-40B4-BE49-F238E27FC236}">
                <a16:creationId xmlns:a16="http://schemas.microsoft.com/office/drawing/2014/main" id="{2B10DD09-B506-1563-64CF-FB8424E5E282}"/>
              </a:ext>
            </a:extLst>
          </p:cNvPr>
          <p:cNvSpPr txBox="1"/>
          <p:nvPr/>
        </p:nvSpPr>
        <p:spPr>
          <a:xfrm>
            <a:off x="2525743" y="8453183"/>
            <a:ext cx="4542009" cy="796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9" dirty="0">
                <a:latin typeface="Lato"/>
                <a:ea typeface="Lato"/>
                <a:cs typeface="Lato"/>
                <a:sym typeface="Lato"/>
              </a:rPr>
              <a:t>Throughput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9" name="Google Shape;549;p21"/>
          <p:cNvGrpSpPr/>
          <p:nvPr/>
        </p:nvGrpSpPr>
        <p:grpSpPr>
          <a:xfrm>
            <a:off x="10126962" y="5414835"/>
            <a:ext cx="1710363" cy="1730406"/>
            <a:chOff x="0" y="0"/>
            <a:chExt cx="2280484" cy="2307208"/>
          </a:xfrm>
        </p:grpSpPr>
        <p:grpSp>
          <p:nvGrpSpPr>
            <p:cNvPr id="550" name="Google Shape;550;p21"/>
            <p:cNvGrpSpPr/>
            <p:nvPr/>
          </p:nvGrpSpPr>
          <p:grpSpPr>
            <a:xfrm rot="10800000">
              <a:off x="0" y="0"/>
              <a:ext cx="2280484" cy="2307208"/>
              <a:chOff x="0" y="-9525"/>
              <a:chExt cx="812800" cy="822325"/>
            </a:xfrm>
          </p:grpSpPr>
          <p:sp>
            <p:nvSpPr>
              <p:cNvPr id="551" name="Google Shape;551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524D"/>
              </a:solidFill>
              <a:ln w="38100" cap="sq" cmpd="sng">
                <a:solidFill>
                  <a:srgbClr val="CCFFA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3" name="Google Shape;553;p21"/>
            <p:cNvGrpSpPr/>
            <p:nvPr/>
          </p:nvGrpSpPr>
          <p:grpSpPr>
            <a:xfrm rot="10800000">
              <a:off x="311366" y="311366"/>
              <a:ext cx="1657753" cy="1677180"/>
              <a:chOff x="0" y="-9525"/>
              <a:chExt cx="812800" cy="822325"/>
            </a:xfrm>
          </p:grpSpPr>
          <p:sp>
            <p:nvSpPr>
              <p:cNvPr id="554" name="Google Shape;554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24" name="Google Shape;524;p21"/>
          <p:cNvCxnSpPr/>
          <p:nvPr/>
        </p:nvCxnSpPr>
        <p:spPr>
          <a:xfrm rot="10800000">
            <a:off x="10963094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CFFA4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25" name="Google Shape;525;p21"/>
          <p:cNvGrpSpPr/>
          <p:nvPr/>
        </p:nvGrpSpPr>
        <p:grpSpPr>
          <a:xfrm>
            <a:off x="10126962" y="888395"/>
            <a:ext cx="1710363" cy="1730406"/>
            <a:chOff x="0" y="0"/>
            <a:chExt cx="2280484" cy="2307208"/>
          </a:xfrm>
        </p:grpSpPr>
        <p:grpSp>
          <p:nvGrpSpPr>
            <p:cNvPr id="526" name="Google Shape;526;p21"/>
            <p:cNvGrpSpPr/>
            <p:nvPr/>
          </p:nvGrpSpPr>
          <p:grpSpPr>
            <a:xfrm rot="10800000">
              <a:off x="0" y="0"/>
              <a:ext cx="2280484" cy="2307208"/>
              <a:chOff x="0" y="-9525"/>
              <a:chExt cx="812800" cy="822325"/>
            </a:xfrm>
          </p:grpSpPr>
          <p:sp>
            <p:nvSpPr>
              <p:cNvPr id="527" name="Google Shape;527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524D"/>
              </a:solidFill>
              <a:ln w="38100" cap="sq" cmpd="sng">
                <a:solidFill>
                  <a:srgbClr val="CCFFA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9" name="Google Shape;529;p21"/>
            <p:cNvGrpSpPr/>
            <p:nvPr/>
          </p:nvGrpSpPr>
          <p:grpSpPr>
            <a:xfrm rot="10800000">
              <a:off x="311366" y="311366"/>
              <a:ext cx="1657753" cy="1677180"/>
              <a:chOff x="0" y="-9525"/>
              <a:chExt cx="812800" cy="822325"/>
            </a:xfrm>
          </p:grpSpPr>
          <p:sp>
            <p:nvSpPr>
              <p:cNvPr id="530" name="Google Shape;530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CFFA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32" name="Google Shape;532;p21"/>
          <p:cNvGrpSpPr/>
          <p:nvPr/>
        </p:nvGrpSpPr>
        <p:grpSpPr>
          <a:xfrm>
            <a:off x="10126962" y="3151615"/>
            <a:ext cx="1710363" cy="1730406"/>
            <a:chOff x="0" y="0"/>
            <a:chExt cx="2280484" cy="2307208"/>
          </a:xfrm>
        </p:grpSpPr>
        <p:grpSp>
          <p:nvGrpSpPr>
            <p:cNvPr id="533" name="Google Shape;533;p21"/>
            <p:cNvGrpSpPr/>
            <p:nvPr/>
          </p:nvGrpSpPr>
          <p:grpSpPr>
            <a:xfrm rot="10800000">
              <a:off x="0" y="0"/>
              <a:ext cx="2280484" cy="2307208"/>
              <a:chOff x="0" y="-9525"/>
              <a:chExt cx="812800" cy="822325"/>
            </a:xfrm>
          </p:grpSpPr>
          <p:sp>
            <p:nvSpPr>
              <p:cNvPr id="534" name="Google Shape;534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524D"/>
              </a:solidFill>
              <a:ln w="38100" cap="sq" cmpd="sng">
                <a:solidFill>
                  <a:srgbClr val="43D29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6" name="Google Shape;536;p21"/>
            <p:cNvGrpSpPr/>
            <p:nvPr/>
          </p:nvGrpSpPr>
          <p:grpSpPr>
            <a:xfrm rot="10800000">
              <a:off x="311366" y="311366"/>
              <a:ext cx="1657753" cy="1677180"/>
              <a:chOff x="0" y="-9525"/>
              <a:chExt cx="812800" cy="822325"/>
            </a:xfrm>
          </p:grpSpPr>
          <p:sp>
            <p:nvSpPr>
              <p:cNvPr id="537" name="Google Shape;537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39" name="Google Shape;539;p21"/>
          <p:cNvSpPr/>
          <p:nvPr/>
        </p:nvSpPr>
        <p:spPr>
          <a:xfrm>
            <a:off x="10648019" y="1521808"/>
            <a:ext cx="696988" cy="443538"/>
          </a:xfrm>
          <a:custGeom>
            <a:avLst/>
            <a:gdLst/>
            <a:ahLst/>
            <a:cxnLst/>
            <a:rect l="l" t="t" r="r" b="b"/>
            <a:pathLst>
              <a:path w="696988" h="443538" extrusionOk="0">
                <a:moveTo>
                  <a:pt x="0" y="0"/>
                </a:moveTo>
                <a:lnTo>
                  <a:pt x="696988" y="0"/>
                </a:lnTo>
                <a:lnTo>
                  <a:pt x="696988" y="443538"/>
                </a:lnTo>
                <a:lnTo>
                  <a:pt x="0" y="4435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540" name="Google Shape;540;p21"/>
          <p:cNvGrpSpPr/>
          <p:nvPr/>
        </p:nvGrpSpPr>
        <p:grpSpPr>
          <a:xfrm>
            <a:off x="10126962" y="7678055"/>
            <a:ext cx="1710363" cy="1730406"/>
            <a:chOff x="0" y="0"/>
            <a:chExt cx="2280484" cy="2307208"/>
          </a:xfrm>
        </p:grpSpPr>
        <p:grpSp>
          <p:nvGrpSpPr>
            <p:cNvPr id="541" name="Google Shape;541;p21"/>
            <p:cNvGrpSpPr/>
            <p:nvPr/>
          </p:nvGrpSpPr>
          <p:grpSpPr>
            <a:xfrm rot="10800000">
              <a:off x="0" y="0"/>
              <a:ext cx="2280484" cy="2307208"/>
              <a:chOff x="0" y="-9525"/>
              <a:chExt cx="812800" cy="822325"/>
            </a:xfrm>
          </p:grpSpPr>
          <p:sp>
            <p:nvSpPr>
              <p:cNvPr id="542" name="Google Shape;542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8524D"/>
              </a:solidFill>
              <a:ln w="38100" cap="sq" cmpd="sng">
                <a:solidFill>
                  <a:srgbClr val="43D29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p21"/>
            <p:cNvGrpSpPr/>
            <p:nvPr/>
          </p:nvGrpSpPr>
          <p:grpSpPr>
            <a:xfrm rot="10800000">
              <a:off x="311366" y="311366"/>
              <a:ext cx="1657753" cy="1677180"/>
              <a:chOff x="0" y="-9525"/>
              <a:chExt cx="812800" cy="822325"/>
            </a:xfrm>
          </p:grpSpPr>
          <p:sp>
            <p:nvSpPr>
              <p:cNvPr id="545" name="Google Shape;545;p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3D29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21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825" tIns="41825" rIns="41825" bIns="418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1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47" name="Google Shape;547;p21"/>
          <p:cNvSpPr/>
          <p:nvPr/>
        </p:nvSpPr>
        <p:spPr>
          <a:xfrm>
            <a:off x="10701362" y="5966063"/>
            <a:ext cx="583670" cy="598915"/>
          </a:xfrm>
          <a:custGeom>
            <a:avLst/>
            <a:gdLst/>
            <a:ahLst/>
            <a:cxnLst/>
            <a:rect l="l" t="t" r="r" b="b"/>
            <a:pathLst>
              <a:path w="583670" h="598915" extrusionOk="0">
                <a:moveTo>
                  <a:pt x="0" y="0"/>
                </a:moveTo>
                <a:lnTo>
                  <a:pt x="583670" y="0"/>
                </a:lnTo>
                <a:lnTo>
                  <a:pt x="583670" y="598916"/>
                </a:lnTo>
                <a:lnTo>
                  <a:pt x="0" y="598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8" name="Google Shape;548;p21"/>
          <p:cNvSpPr/>
          <p:nvPr/>
        </p:nvSpPr>
        <p:spPr>
          <a:xfrm>
            <a:off x="10648019" y="3707427"/>
            <a:ext cx="696988" cy="665307"/>
          </a:xfrm>
          <a:custGeom>
            <a:avLst/>
            <a:gdLst/>
            <a:ahLst/>
            <a:cxnLst/>
            <a:rect l="l" t="t" r="r" b="b"/>
            <a:pathLst>
              <a:path w="696988" h="665307" extrusionOk="0">
                <a:moveTo>
                  <a:pt x="0" y="0"/>
                </a:moveTo>
                <a:lnTo>
                  <a:pt x="696988" y="0"/>
                </a:lnTo>
                <a:lnTo>
                  <a:pt x="696988" y="665307"/>
                </a:lnTo>
                <a:lnTo>
                  <a:pt x="0" y="6653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56" name="Google Shape;556;p21"/>
          <p:cNvSpPr/>
          <p:nvPr/>
        </p:nvSpPr>
        <p:spPr>
          <a:xfrm>
            <a:off x="10669711" y="8284472"/>
            <a:ext cx="668250" cy="455625"/>
          </a:xfrm>
          <a:custGeom>
            <a:avLst/>
            <a:gdLst/>
            <a:ahLst/>
            <a:cxnLst/>
            <a:rect l="l" t="t" r="r" b="b"/>
            <a:pathLst>
              <a:path w="668250" h="455625" extrusionOk="0">
                <a:moveTo>
                  <a:pt x="0" y="0"/>
                </a:moveTo>
                <a:lnTo>
                  <a:pt x="668250" y="0"/>
                </a:lnTo>
                <a:lnTo>
                  <a:pt x="668250" y="455626"/>
                </a:lnTo>
                <a:lnTo>
                  <a:pt x="0" y="455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57" name="Google Shape;557;p21"/>
          <p:cNvSpPr txBox="1"/>
          <p:nvPr/>
        </p:nvSpPr>
        <p:spPr>
          <a:xfrm>
            <a:off x="1028700" y="7861180"/>
            <a:ext cx="7619391" cy="179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Designing for Resilience: We intentionally prioritized absolute system stability over attempting to process every single request during an unpredictable traffic burst.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58" name="Google Shape;558;p21"/>
          <p:cNvSpPr txBox="1"/>
          <p:nvPr/>
        </p:nvSpPr>
        <p:spPr>
          <a:xfrm>
            <a:off x="12265094" y="1578347"/>
            <a:ext cx="5240100" cy="159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Implemented an explicit </a:t>
            </a:r>
            <a:r>
              <a:rPr lang="en-US" altLang="en-US" sz="2000" dirty="0" err="1">
                <a:solidFill>
                  <a:srgbClr val="FFFFFF"/>
                </a:solidFill>
                <a:latin typeface="Lato"/>
                <a:ea typeface="Lato"/>
                <a:cs typeface="Lato"/>
              </a:rPr>
              <a:t>ArrayBlockingQueue</a:t>
            </a:r>
            <a:r>
              <a:rPr lang="en-US" alt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 (Capacity: 100) instead of relying on unbounded memory. 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9" name="Google Shape;559;p21"/>
          <p:cNvSpPr txBox="1"/>
          <p:nvPr/>
        </p:nvSpPr>
        <p:spPr>
          <a:xfrm>
            <a:off x="12269597" y="1104136"/>
            <a:ext cx="4490100" cy="57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Bounded Queue Strategy</a:t>
            </a:r>
            <a:endParaRPr sz="2300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0" name="Google Shape;560;p21"/>
          <p:cNvSpPr txBox="1"/>
          <p:nvPr/>
        </p:nvSpPr>
        <p:spPr>
          <a:xfrm>
            <a:off x="12269597" y="3789757"/>
            <a:ext cx="52401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Completely prevents JVM </a:t>
            </a:r>
            <a:r>
              <a:rPr lang="en-US" sz="2000" dirty="0" err="1">
                <a:solidFill>
                  <a:srgbClr val="FFFFFF"/>
                </a:solidFill>
                <a:latin typeface="Lato"/>
                <a:ea typeface="Lato"/>
                <a:cs typeface="Lato"/>
              </a:rPr>
              <a:t>OutOfMemory</a:t>
            </a: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 crashes and stops the Python ML engine from locking up under extreme loads.</a:t>
            </a: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1" name="Google Shape;561;p21"/>
          <p:cNvSpPr txBox="1"/>
          <p:nvPr/>
        </p:nvSpPr>
        <p:spPr>
          <a:xfrm>
            <a:off x="12269597" y="3337730"/>
            <a:ext cx="4490100" cy="576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Lockup Protection</a:t>
            </a:r>
            <a:endParaRPr sz="2300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2" name="Google Shape;562;p21"/>
          <p:cNvSpPr txBox="1"/>
          <p:nvPr/>
        </p:nvSpPr>
        <p:spPr>
          <a:xfrm>
            <a:off x="12269597" y="6037313"/>
            <a:ext cx="52401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During severe overload, valid user voice commands are explicitly dropped rather than processed slowly.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3" name="Google Shape;563;p21"/>
          <p:cNvSpPr txBox="1"/>
          <p:nvPr/>
        </p:nvSpPr>
        <p:spPr>
          <a:xfrm>
            <a:off x="12235157" y="5683370"/>
            <a:ext cx="49776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300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Intentional Data Loss</a:t>
            </a:r>
          </a:p>
        </p:txBody>
      </p:sp>
      <p:sp>
        <p:nvSpPr>
          <p:cNvPr id="564" name="Google Shape;564;p21"/>
          <p:cNvSpPr txBox="1"/>
          <p:nvPr/>
        </p:nvSpPr>
        <p:spPr>
          <a:xfrm>
            <a:off x="12213003" y="8358636"/>
            <a:ext cx="52401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Future engineers can trace bottlenecks by monitoring the "Rejected Requests" metric and checking the AIMD logs.</a:t>
            </a:r>
            <a:endParaRPr sz="2000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5" name="Google Shape;565;p21"/>
          <p:cNvSpPr txBox="1"/>
          <p:nvPr/>
        </p:nvSpPr>
        <p:spPr>
          <a:xfrm>
            <a:off x="12207015" y="7947102"/>
            <a:ext cx="49776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>
              <a:buFont typeface="Arial"/>
              <a:buNone/>
            </a:pPr>
            <a:r>
              <a:rPr lang="en-US" sz="2300" b="1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System Observability</a:t>
            </a:r>
            <a:endParaRPr sz="2300" b="1" dirty="0">
              <a:solidFill>
                <a:srgbClr val="FFFFFF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66" name="Google Shape;566;p21"/>
          <p:cNvSpPr txBox="1"/>
          <p:nvPr/>
        </p:nvSpPr>
        <p:spPr>
          <a:xfrm>
            <a:off x="1028700" y="768319"/>
            <a:ext cx="7938300" cy="291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8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Architecture Decisions</a:t>
            </a:r>
            <a:endParaRPr lang="en-US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EE5AD19-1174-7468-ECB0-A425A255C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063711"/>
              </p:ext>
            </p:extLst>
          </p:nvPr>
        </p:nvGraphicFramePr>
        <p:xfrm>
          <a:off x="772161" y="3891446"/>
          <a:ext cx="8194840" cy="3599512"/>
        </p:xfrm>
        <a:graphic>
          <a:graphicData uri="http://schemas.openxmlformats.org/drawingml/2006/table">
            <a:tbl>
              <a:tblPr firstRow="1" bandRow="1">
                <a:tableStyleId>{1C26DE01-F523-4318-A409-E3855CED85CC}</a:tableStyleId>
              </a:tblPr>
              <a:tblGrid>
                <a:gridCol w="8194840">
                  <a:extLst>
                    <a:ext uri="{9D8B030D-6E8A-4147-A177-3AD203B41FA5}">
                      <a16:colId xmlns:a16="http://schemas.microsoft.com/office/drawing/2014/main" val="828433371"/>
                    </a:ext>
                  </a:extLst>
                </a:gridCol>
              </a:tblGrid>
              <a:tr h="35995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b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ArrayBlockingQueue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&lt;Runnable&gt;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boundedQueue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 = new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ArrayBlockingQueue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&lt;&gt;(100);</a:t>
                      </a:r>
                      <a:b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b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RejectedExecutionHandler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rejectionHandler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 = (runnable, executor) -&gt; {</a:t>
                      </a:r>
                      <a:b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rejectedWork.incrementAndGet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  <a:b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System.</a:t>
                      </a:r>
                      <a:r>
                        <a:rPr kumimoji="0" lang="en-US" altLang="en-US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err</a:t>
                      </a:r>
                      <a:r>
                        <a:rPr kumimoji="0" lang="en-US" alt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.println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(“System full! Request rejected.");</a:t>
                      </a:r>
                      <a:b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CBEC4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524D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2755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524D"/>
        </a:solidFill>
        <a:effectLst/>
      </p:bgPr>
    </p:bg>
    <p:spTree>
      <p:nvGrpSpPr>
        <p:cNvPr id="1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4"/>
          <p:cNvSpPr txBox="1"/>
          <p:nvPr/>
        </p:nvSpPr>
        <p:spPr>
          <a:xfrm>
            <a:off x="10658676" y="2700328"/>
            <a:ext cx="6192000" cy="4268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335" b="0" i="0" u="none" strike="noStrike" cap="none" dirty="0">
                <a:solidFill>
                  <a:srgbClr val="CCFFA4"/>
                </a:solidFill>
                <a:latin typeface="Rajdhani"/>
                <a:ea typeface="Rajdhani"/>
                <a:cs typeface="Rajdhani"/>
                <a:sym typeface="Rajdhani"/>
              </a:rPr>
              <a:t>THANK YOU</a:t>
            </a:r>
            <a:endParaRPr dirty="0"/>
          </a:p>
        </p:txBody>
      </p:sp>
      <p:sp>
        <p:nvSpPr>
          <p:cNvPr id="653" name="Google Shape;653;p24"/>
          <p:cNvSpPr txBox="1"/>
          <p:nvPr/>
        </p:nvSpPr>
        <p:spPr>
          <a:xfrm>
            <a:off x="12139212" y="6240096"/>
            <a:ext cx="51201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691;p25">
            <a:extLst>
              <a:ext uri="{FF2B5EF4-FFF2-40B4-BE49-F238E27FC236}">
                <a16:creationId xmlns:a16="http://schemas.microsoft.com/office/drawing/2014/main" id="{C6F41EFA-D298-A78D-1A2B-E96A8A326DB4}"/>
              </a:ext>
            </a:extLst>
          </p:cNvPr>
          <p:cNvSpPr/>
          <p:nvPr/>
        </p:nvSpPr>
        <p:spPr>
          <a:xfrm>
            <a:off x="1437324" y="1782224"/>
            <a:ext cx="7706676" cy="6104428"/>
          </a:xfrm>
          <a:custGeom>
            <a:avLst/>
            <a:gdLst/>
            <a:ahLst/>
            <a:cxnLst/>
            <a:rect l="l" t="t" r="r" b="b"/>
            <a:pathLst>
              <a:path w="1450102" h="1183810" extrusionOk="0">
                <a:moveTo>
                  <a:pt x="0" y="0"/>
                </a:moveTo>
                <a:lnTo>
                  <a:pt x="1450102" y="0"/>
                </a:lnTo>
                <a:lnTo>
                  <a:pt x="1450102" y="1183810"/>
                </a:lnTo>
                <a:lnTo>
                  <a:pt x="0" y="11838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472</Words>
  <Application>Microsoft Office PowerPoint</Application>
  <PresentationFormat>Custom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Consolas</vt:lpstr>
      <vt:lpstr>Rajdhani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fayez slika</cp:lastModifiedBy>
  <cp:revision>6</cp:revision>
  <dcterms:modified xsi:type="dcterms:W3CDTF">2026-07-06T17:57:15Z</dcterms:modified>
</cp:coreProperties>
</file>